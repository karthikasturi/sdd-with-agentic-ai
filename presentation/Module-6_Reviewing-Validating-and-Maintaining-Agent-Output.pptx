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p:spPr>
      </p:sp>
      <p:sp>
        <p:nvSpPr>
          <p:cNvPr id="3" name="Shape 1"/>
          <p:cNvSpPr/>
          <p:nvPr/>
        </p:nvSpPr>
        <p:spPr>
          <a:xfrm>
            <a:off x="548640" y="640080"/>
            <a:ext cx="2377440" cy="457200"/>
          </a:xfrm>
          <a:prstGeom prst="roundRect">
            <a:avLst>
              <a:gd name="adj" fmla="val 50000"/>
            </a:avLst>
          </a:prstGeom>
          <a:solidFill>
            <a:srgbClr val="C0504D"/>
          </a:solidFill>
          <a:ln/>
        </p:spPr>
      </p:sp>
      <p:sp>
        <p:nvSpPr>
          <p:cNvPr id="4" name="Text 2"/>
          <p:cNvSpPr/>
          <p:nvPr/>
        </p:nvSpPr>
        <p:spPr>
          <a:xfrm>
            <a:off x="548640" y="640080"/>
            <a:ext cx="237744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DAY 2</a:t>
            </a:r>
            <a:endParaRPr lang="en-US" sz="1400" dirty="0"/>
          </a:p>
        </p:txBody>
      </p:sp>
      <p:sp>
        <p:nvSpPr>
          <p:cNvPr id="5" name="Text 3"/>
          <p:cNvSpPr/>
          <p:nvPr/>
        </p:nvSpPr>
        <p:spPr>
          <a:xfrm>
            <a:off x="548640" y="1371600"/>
            <a:ext cx="11094415" cy="457200"/>
          </a:xfrm>
          <a:prstGeom prst="rect">
            <a:avLst/>
          </a:prstGeom>
          <a:noFill/>
          <a:ln/>
        </p:spPr>
        <p:txBody>
          <a:bodyPr wrap="square" rtlCol="0" anchor="ctr"/>
          <a:lstStyle/>
          <a:p>
            <a:pPr algn="l" indent="0" marL="0">
              <a:buNone/>
            </a:pPr>
            <a:r>
              <a:rPr lang="en-US" sz="1600" dirty="0">
                <a:solidFill>
                  <a:srgbClr val="9FB3D1"/>
                </a:solidFill>
                <a:latin typeface="Calibri" pitchFamily="34" charset="0"/>
                <a:ea typeface="Calibri" pitchFamily="34" charset="-122"/>
                <a:cs typeface="Calibri" pitchFamily="34" charset="-120"/>
              </a:rPr>
              <a:t>Module 6</a:t>
            </a:r>
            <a:endParaRPr lang="en-US" sz="1600" dirty="0"/>
          </a:p>
        </p:txBody>
      </p:sp>
      <p:sp>
        <p:nvSpPr>
          <p:cNvPr id="6" name="Text 4"/>
          <p:cNvSpPr/>
          <p:nvPr/>
        </p:nvSpPr>
        <p:spPr>
          <a:xfrm>
            <a:off x="548640" y="1828800"/>
            <a:ext cx="11094415" cy="2194560"/>
          </a:xfrm>
          <a:prstGeom prst="rect">
            <a:avLst/>
          </a:prstGeom>
          <a:noFill/>
          <a:ln/>
        </p:spPr>
        <p:txBody>
          <a:bodyPr wrap="square" rtlCol="0" anchor="t"/>
          <a:lstStyle/>
          <a:p>
            <a:pPr algn="l" indent="0" marL="0">
              <a:buNone/>
            </a:pPr>
            <a:r>
              <a:rPr lang="en-US" sz="4400" b="1" dirty="0">
                <a:solidFill>
                  <a:srgbClr val="FFFFFF"/>
                </a:solidFill>
                <a:latin typeface="Times New Roman" pitchFamily="34" charset="0"/>
                <a:ea typeface="Times New Roman" pitchFamily="34" charset="-122"/>
                <a:cs typeface="Times New Roman" pitchFamily="34" charset="-120"/>
              </a:rPr>
              <a:t>Reviewing, Validating, and Maintaining Agent Output</a:t>
            </a:r>
            <a:endParaRPr lang="en-US" sz="4400" dirty="0"/>
          </a:p>
        </p:txBody>
      </p:sp>
      <p:sp>
        <p:nvSpPr>
          <p:cNvPr id="7" name="Shape 5"/>
          <p:cNvSpPr/>
          <p:nvPr/>
        </p:nvSpPr>
        <p:spPr>
          <a:xfrm>
            <a:off x="548640" y="4206240"/>
            <a:ext cx="2011680" cy="0"/>
          </a:xfrm>
          <a:prstGeom prst="line">
            <a:avLst/>
          </a:prstGeom>
          <a:noFill/>
          <a:ln w="38100">
            <a:solidFill>
              <a:srgbClr val="C0504D"/>
            </a:solidFill>
            <a:prstDash val="solid"/>
          </a:ln>
        </p:spPr>
      </p:sp>
      <p:sp>
        <p:nvSpPr>
          <p:cNvPr id="8" name="Text 6"/>
          <p:cNvSpPr/>
          <p:nvPr/>
        </p:nvSpPr>
        <p:spPr>
          <a:xfrm>
            <a:off x="548640" y="4434840"/>
            <a:ext cx="10180015" cy="1280160"/>
          </a:xfrm>
          <a:prstGeom prst="rect">
            <a:avLst/>
          </a:prstGeom>
          <a:noFill/>
          <a:ln/>
        </p:spPr>
        <p:txBody>
          <a:bodyPr wrap="square" rtlCol="0" anchor="t"/>
          <a:lstStyle/>
          <a:p>
            <a:pPr algn="l" indent="0" marL="0">
              <a:buNone/>
            </a:pPr>
            <a:r>
              <a:rPr lang="en-US" sz="1800" i="1" dirty="0">
                <a:solidFill>
                  <a:srgbClr val="CADCFC"/>
                </a:solidFill>
                <a:latin typeface="Calibri" pitchFamily="34" charset="0"/>
                <a:ea typeface="Calibri" pitchFamily="34" charset="-122"/>
                <a:cs typeface="Calibri" pitchFamily="34" charset="-120"/>
              </a:rPr>
              <a:t>Automated gates catch what they're built to catch, not everything.</a:t>
            </a:r>
            <a:endParaRPr lang="en-US" sz="18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731520"/>
          </a:xfrm>
          <a:prstGeom prst="rect">
            <a:avLst/>
          </a:prstGeom>
          <a:noFill/>
          <a:ln/>
        </p:spPr>
        <p:txBody>
          <a:bodyPr wrap="square" rtlCol="0" anchor="ctr"/>
          <a:lstStyle/>
          <a:p>
            <a:pPr indent="0" marL="0">
              <a:buNone/>
            </a:pPr>
            <a:r>
              <a:rPr lang="en-US" sz="3200" b="1" dirty="0">
                <a:solidFill>
                  <a:srgbClr val="1B2A4A"/>
                </a:solidFill>
                <a:latin typeface="Times New Roman" pitchFamily="34" charset="0"/>
                <a:ea typeface="Times New Roman" pitchFamily="34" charset="-122"/>
                <a:cs typeface="Times New Roman" pitchFamily="34" charset="-120"/>
              </a:rPr>
              <a:t>What You'll Learn</a:t>
            </a:r>
            <a:endParaRPr lang="en-US" sz="3200" dirty="0"/>
          </a:p>
        </p:txBody>
      </p:sp>
      <p:sp>
        <p:nvSpPr>
          <p:cNvPr id="3" name="Shape 1"/>
          <p:cNvSpPr/>
          <p:nvPr/>
        </p:nvSpPr>
        <p:spPr>
          <a:xfrm>
            <a:off x="548640" y="1554480"/>
            <a:ext cx="502920" cy="502920"/>
          </a:xfrm>
          <a:prstGeom prst="ellipse">
            <a:avLst/>
          </a:prstGeom>
          <a:solidFill>
            <a:srgbClr val="2E74B5"/>
          </a:solidFill>
          <a:ln/>
        </p:spPr>
      </p:sp>
      <p:sp>
        <p:nvSpPr>
          <p:cNvPr id="4" name="Text 2"/>
          <p:cNvSpPr/>
          <p:nvPr/>
        </p:nvSpPr>
        <p:spPr>
          <a:xfrm>
            <a:off x="548640" y="1554480"/>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325880" y="1508760"/>
            <a:ext cx="10317175" cy="822960"/>
          </a:xfrm>
          <a:prstGeom prst="rect">
            <a:avLst/>
          </a:prstGeom>
          <a:noFill/>
          <a:ln/>
        </p:spPr>
        <p:txBody>
          <a:bodyPr wrap="square" rtlCol="0" anchor="ctr"/>
          <a:lstStyle/>
          <a:p>
            <a:pPr algn="l" indent="0" marL="0">
              <a:buNone/>
            </a:pPr>
            <a:r>
              <a:rPr lang="en-US" sz="1600" dirty="0">
                <a:solidFill>
                  <a:srgbClr val="1B2A4A"/>
                </a:solidFill>
                <a:latin typeface="Calibri" pitchFamily="34" charset="0"/>
                <a:ea typeface="Calibri" pitchFamily="34" charset="-122"/>
                <a:cs typeface="Calibri" pitchFamily="34" charset="-120"/>
              </a:rPr>
              <a:t>Apply human-in-the-loop review even after automated gates pass</a:t>
            </a:r>
            <a:endParaRPr lang="en-US" sz="1600" dirty="0"/>
          </a:p>
        </p:txBody>
      </p:sp>
      <p:sp>
        <p:nvSpPr>
          <p:cNvPr id="6" name="Shape 4"/>
          <p:cNvSpPr/>
          <p:nvPr/>
        </p:nvSpPr>
        <p:spPr>
          <a:xfrm>
            <a:off x="548640" y="2514600"/>
            <a:ext cx="502920" cy="502920"/>
          </a:xfrm>
          <a:prstGeom prst="ellipse">
            <a:avLst/>
          </a:prstGeom>
          <a:solidFill>
            <a:srgbClr val="C0504D"/>
          </a:solidFill>
          <a:ln/>
        </p:spPr>
      </p:sp>
      <p:sp>
        <p:nvSpPr>
          <p:cNvPr id="7" name="Text 5"/>
          <p:cNvSpPr/>
          <p:nvPr/>
        </p:nvSpPr>
        <p:spPr>
          <a:xfrm>
            <a:off x="548640" y="2514600"/>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325880" y="2468880"/>
            <a:ext cx="10317175" cy="822960"/>
          </a:xfrm>
          <a:prstGeom prst="rect">
            <a:avLst/>
          </a:prstGeom>
          <a:noFill/>
          <a:ln/>
        </p:spPr>
        <p:txBody>
          <a:bodyPr wrap="square" rtlCol="0" anchor="ctr"/>
          <a:lstStyle/>
          <a:p>
            <a:pPr algn="l" indent="0" marL="0">
              <a:buNone/>
            </a:pPr>
            <a:r>
              <a:rPr lang="en-US" sz="1600" dirty="0">
                <a:solidFill>
                  <a:srgbClr val="1B2A4A"/>
                </a:solidFill>
                <a:latin typeface="Calibri" pitchFamily="34" charset="0"/>
                <a:ea typeface="Calibri" pitchFamily="34" charset="-122"/>
                <a:cs typeface="Calibri" pitchFamily="34" charset="-120"/>
              </a:rPr>
              <a:t>Recognize hallucinations, unsafe changes, and weak assumptions</a:t>
            </a:r>
            <a:endParaRPr lang="en-US" sz="1600" dirty="0"/>
          </a:p>
        </p:txBody>
      </p:sp>
      <p:sp>
        <p:nvSpPr>
          <p:cNvPr id="9" name="Shape 7"/>
          <p:cNvSpPr/>
          <p:nvPr/>
        </p:nvSpPr>
        <p:spPr>
          <a:xfrm>
            <a:off x="548640" y="3474720"/>
            <a:ext cx="502920" cy="502920"/>
          </a:xfrm>
          <a:prstGeom prst="ellipse">
            <a:avLst/>
          </a:prstGeom>
          <a:solidFill>
            <a:srgbClr val="2E74B5"/>
          </a:solidFill>
          <a:ln/>
        </p:spPr>
      </p:sp>
      <p:sp>
        <p:nvSpPr>
          <p:cNvPr id="10" name="Text 8"/>
          <p:cNvSpPr/>
          <p:nvPr/>
        </p:nvSpPr>
        <p:spPr>
          <a:xfrm>
            <a:off x="548640" y="3474720"/>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325880" y="3429000"/>
            <a:ext cx="10317175" cy="822960"/>
          </a:xfrm>
          <a:prstGeom prst="rect">
            <a:avLst/>
          </a:prstGeom>
          <a:noFill/>
          <a:ln/>
        </p:spPr>
        <p:txBody>
          <a:bodyPr wrap="square" rtlCol="0" anchor="ctr"/>
          <a:lstStyle/>
          <a:p>
            <a:pPr algn="l" indent="0" marL="0">
              <a:buNone/>
            </a:pPr>
            <a:r>
              <a:rPr lang="en-US" sz="1600" dirty="0">
                <a:solidFill>
                  <a:srgbClr val="1B2A4A"/>
                </a:solidFill>
                <a:latin typeface="Calibri" pitchFamily="34" charset="0"/>
                <a:ea typeface="Calibri" pitchFamily="34" charset="-122"/>
                <a:cs typeface="Calibri" pitchFamily="34" charset="-120"/>
              </a:rPr>
              <a:t>Manage spec drift and keep documentation in sync with the codebase</a:t>
            </a:r>
            <a:endParaRPr lang="en-US" sz="1600" dirty="0"/>
          </a:p>
        </p:txBody>
      </p:sp>
      <p:sp>
        <p:nvSpPr>
          <p:cNvPr id="12" name="Text 10"/>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6</a:t>
            </a:r>
            <a:endParaRPr lang="en-US" sz="1000" dirty="0"/>
          </a:p>
        </p:txBody>
      </p:sp>
      <p:sp>
        <p:nvSpPr>
          <p:cNvPr id="13" name="Text 11"/>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rtlCol="0" anchor="ctr"/>
          <a:lstStyle/>
          <a:p>
            <a:pPr indent="0" marL="0">
              <a:buNone/>
            </a:pPr>
            <a:r>
              <a:rPr lang="en-US" sz="1300" b="1" spc="100" kern="0" dirty="0">
                <a:solidFill>
                  <a:srgbClr val="C0504D"/>
                </a:solidFill>
                <a:latin typeface="Calibri" pitchFamily="34" charset="0"/>
                <a:ea typeface="Calibri" pitchFamily="34" charset="-122"/>
                <a:cs typeface="Calibri" pitchFamily="34" charset="-120"/>
              </a:rPr>
              <a:t>AFTER THE GATES</a:t>
            </a:r>
            <a:endParaRPr lang="en-US" sz="1300" dirty="0"/>
          </a:p>
        </p:txBody>
      </p:sp>
      <p:sp>
        <p:nvSpPr>
          <p:cNvPr id="3" name="Text 1"/>
          <p:cNvSpPr/>
          <p:nvPr/>
        </p:nvSpPr>
        <p:spPr>
          <a:xfrm>
            <a:off x="548640" y="713232"/>
            <a:ext cx="11094415" cy="640080"/>
          </a:xfrm>
          <a:prstGeom prst="rect">
            <a:avLst/>
          </a:prstGeom>
          <a:noFill/>
          <a:ln/>
        </p:spPr>
        <p:txBody>
          <a:bodyPr wrap="square" rtlCol="0" anchor="ctr"/>
          <a:lstStyle/>
          <a:p>
            <a:pPr indent="0" marL="0">
              <a:buNone/>
            </a:pPr>
            <a:r>
              <a:rPr lang="en-US" sz="2800" b="1" dirty="0">
                <a:solidFill>
                  <a:srgbClr val="1B2A4A"/>
                </a:solidFill>
                <a:latin typeface="Times New Roman" pitchFamily="34" charset="0"/>
                <a:ea typeface="Times New Roman" pitchFamily="34" charset="-122"/>
                <a:cs typeface="Times New Roman" pitchFamily="34" charset="-120"/>
              </a:rPr>
              <a:t>Human-in-the-Loop Still Matters</a:t>
            </a:r>
            <a:endParaRPr lang="en-US" sz="2800" dirty="0"/>
          </a:p>
        </p:txBody>
      </p:sp>
      <p:sp>
        <p:nvSpPr>
          <p:cNvPr id="4" name="Shape 2"/>
          <p:cNvSpPr/>
          <p:nvPr/>
        </p:nvSpPr>
        <p:spPr>
          <a:xfrm>
            <a:off x="548640" y="1600200"/>
            <a:ext cx="11094415" cy="2304288"/>
          </a:xfrm>
          <a:prstGeom prst="roundRect">
            <a:avLst>
              <a:gd name="adj" fmla="val 3175"/>
            </a:avLst>
          </a:prstGeom>
          <a:solidFill>
            <a:srgbClr val="F2F5F9"/>
          </a:solidFill>
          <a:ln/>
        </p:spPr>
      </p:sp>
      <p:sp>
        <p:nvSpPr>
          <p:cNvPr id="5" name="Shape 3"/>
          <p:cNvSpPr/>
          <p:nvPr/>
        </p:nvSpPr>
        <p:spPr>
          <a:xfrm>
            <a:off x="548640" y="1600200"/>
            <a:ext cx="73152" cy="2304288"/>
          </a:xfrm>
          <a:prstGeom prst="rect">
            <a:avLst/>
          </a:prstGeom>
          <a:solidFill>
            <a:srgbClr val="2E74B5"/>
          </a:solidFill>
          <a:ln/>
        </p:spPr>
      </p:sp>
      <p:sp>
        <p:nvSpPr>
          <p:cNvPr id="6" name="Text 4"/>
          <p:cNvSpPr/>
          <p:nvPr/>
        </p:nvSpPr>
        <p:spPr>
          <a:xfrm>
            <a:off x="822960" y="167335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Confident-looking output can still contain hallucinations, unsafe changes, or assumptions that were never actually verified, because a gate only checks what it was built to check, not everything that could go wrong.</a:t>
            </a:r>
            <a:endParaRPr lang="en-US" sz="1500" dirty="0"/>
          </a:p>
        </p:txBody>
      </p:sp>
      <p:sp>
        <p:nvSpPr>
          <p:cNvPr id="7" name="Shape 5"/>
          <p:cNvSpPr/>
          <p:nvPr/>
        </p:nvSpPr>
        <p:spPr>
          <a:xfrm>
            <a:off x="548640" y="4069080"/>
            <a:ext cx="11094415" cy="2304288"/>
          </a:xfrm>
          <a:prstGeom prst="roundRect">
            <a:avLst>
              <a:gd name="adj" fmla="val 3175"/>
            </a:avLst>
          </a:prstGeom>
          <a:solidFill>
            <a:srgbClr val="F2F5F9"/>
          </a:solidFill>
          <a:ln/>
        </p:spPr>
      </p:sp>
      <p:sp>
        <p:nvSpPr>
          <p:cNvPr id="8" name="Shape 6"/>
          <p:cNvSpPr/>
          <p:nvPr/>
        </p:nvSpPr>
        <p:spPr>
          <a:xfrm>
            <a:off x="548640" y="4069080"/>
            <a:ext cx="73152" cy="2304288"/>
          </a:xfrm>
          <a:prstGeom prst="rect">
            <a:avLst/>
          </a:prstGeom>
          <a:solidFill>
            <a:srgbClr val="C0504D"/>
          </a:solidFill>
          <a:ln/>
        </p:spPr>
      </p:sp>
      <p:sp>
        <p:nvSpPr>
          <p:cNvPr id="9" name="Text 7"/>
          <p:cNvSpPr/>
          <p:nvPr/>
        </p:nvSpPr>
        <p:spPr>
          <a:xfrm>
            <a:off x="822960" y="414223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Production systems warrant extra scrutiny beyond what any automated gate applies by default, since the cost of a mistake reaching production is far higher than the cost of one more careful read.</a:t>
            </a:r>
            <a:endParaRPr lang="en-US" sz="1500" dirty="0"/>
          </a:p>
        </p:txBody>
      </p:sp>
      <p:sp>
        <p:nvSpPr>
          <p:cNvPr id="10" name="Text 8"/>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6</a:t>
            </a:r>
            <a:endParaRPr lang="en-US" sz="1000" dirty="0"/>
          </a:p>
        </p:txBody>
      </p:sp>
      <p:sp>
        <p:nvSpPr>
          <p:cNvPr id="11" name="Text 9"/>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rtlCol="0" anchor="ctr"/>
          <a:lstStyle/>
          <a:p>
            <a:pPr indent="0" marL="0">
              <a:buNone/>
            </a:pPr>
            <a:r>
              <a:rPr lang="en-US" sz="1300" b="1" spc="100" kern="0" dirty="0">
                <a:solidFill>
                  <a:srgbClr val="C0504D"/>
                </a:solidFill>
                <a:latin typeface="Calibri" pitchFamily="34" charset="0"/>
                <a:ea typeface="Calibri" pitchFamily="34" charset="-122"/>
                <a:cs typeface="Calibri" pitchFamily="34" charset="-120"/>
              </a:rPr>
              <a:t>STAYING CURRENT</a:t>
            </a:r>
            <a:endParaRPr lang="en-US" sz="1300" dirty="0"/>
          </a:p>
        </p:txBody>
      </p:sp>
      <p:sp>
        <p:nvSpPr>
          <p:cNvPr id="3" name="Text 1"/>
          <p:cNvSpPr/>
          <p:nvPr/>
        </p:nvSpPr>
        <p:spPr>
          <a:xfrm>
            <a:off x="548640" y="713232"/>
            <a:ext cx="11094415" cy="640080"/>
          </a:xfrm>
          <a:prstGeom prst="rect">
            <a:avLst/>
          </a:prstGeom>
          <a:noFill/>
          <a:ln/>
        </p:spPr>
        <p:txBody>
          <a:bodyPr wrap="square" rtlCol="0" anchor="ctr"/>
          <a:lstStyle/>
          <a:p>
            <a:pPr indent="0" marL="0">
              <a:buNone/>
            </a:pPr>
            <a:r>
              <a:rPr lang="en-US" sz="2800" b="1" dirty="0">
                <a:solidFill>
                  <a:srgbClr val="1B2A4A"/>
                </a:solidFill>
                <a:latin typeface="Times New Roman" pitchFamily="34" charset="0"/>
                <a:ea typeface="Times New Roman" pitchFamily="34" charset="-122"/>
                <a:cs typeface="Times New Roman" pitchFamily="34" charset="-120"/>
              </a:rPr>
              <a:t>Managing Spec Drift</a:t>
            </a:r>
            <a:endParaRPr lang="en-US" sz="2800" dirty="0"/>
          </a:p>
        </p:txBody>
      </p:sp>
      <p:sp>
        <p:nvSpPr>
          <p:cNvPr id="4" name="Shape 2"/>
          <p:cNvSpPr/>
          <p:nvPr/>
        </p:nvSpPr>
        <p:spPr>
          <a:xfrm>
            <a:off x="548640" y="1600200"/>
            <a:ext cx="11094415" cy="2304288"/>
          </a:xfrm>
          <a:prstGeom prst="roundRect">
            <a:avLst>
              <a:gd name="adj" fmla="val 3175"/>
            </a:avLst>
          </a:prstGeom>
          <a:solidFill>
            <a:srgbClr val="F2F5F9"/>
          </a:solidFill>
          <a:ln/>
        </p:spPr>
      </p:sp>
      <p:sp>
        <p:nvSpPr>
          <p:cNvPr id="5" name="Shape 3"/>
          <p:cNvSpPr/>
          <p:nvPr/>
        </p:nvSpPr>
        <p:spPr>
          <a:xfrm>
            <a:off x="548640" y="1600200"/>
            <a:ext cx="73152" cy="2304288"/>
          </a:xfrm>
          <a:prstGeom prst="rect">
            <a:avLst/>
          </a:prstGeom>
          <a:solidFill>
            <a:srgbClr val="2E74B5"/>
          </a:solidFill>
          <a:ln/>
        </p:spPr>
      </p:sp>
      <p:sp>
        <p:nvSpPr>
          <p:cNvPr id="6" name="Text 4"/>
          <p:cNvSpPr/>
          <p:nvPr/>
        </p:nvSpPr>
        <p:spPr>
          <a:xfrm>
            <a:off x="822960" y="167335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A spec, constitution, or instruction file that no longer matches the code stops being trustworthy documentation, and worse, it can actively mislead the next person, or agent, who reads it.</a:t>
            </a:r>
            <a:endParaRPr lang="en-US" sz="1500" dirty="0"/>
          </a:p>
        </p:txBody>
      </p:sp>
      <p:sp>
        <p:nvSpPr>
          <p:cNvPr id="7" name="Shape 5"/>
          <p:cNvSpPr/>
          <p:nvPr/>
        </p:nvSpPr>
        <p:spPr>
          <a:xfrm>
            <a:off x="548640" y="4069080"/>
            <a:ext cx="11094415" cy="2304288"/>
          </a:xfrm>
          <a:prstGeom prst="roundRect">
            <a:avLst>
              <a:gd name="adj" fmla="val 3175"/>
            </a:avLst>
          </a:prstGeom>
          <a:solidFill>
            <a:srgbClr val="F2F5F9"/>
          </a:solidFill>
          <a:ln/>
        </p:spPr>
      </p:sp>
      <p:sp>
        <p:nvSpPr>
          <p:cNvPr id="8" name="Shape 6"/>
          <p:cNvSpPr/>
          <p:nvPr/>
        </p:nvSpPr>
        <p:spPr>
          <a:xfrm>
            <a:off x="548640" y="4069080"/>
            <a:ext cx="73152" cy="2304288"/>
          </a:xfrm>
          <a:prstGeom prst="rect">
            <a:avLst/>
          </a:prstGeom>
          <a:solidFill>
            <a:srgbClr val="C0504D"/>
          </a:solidFill>
          <a:ln/>
        </p:spPr>
      </p:sp>
      <p:sp>
        <p:nvSpPr>
          <p:cNvPr id="9" name="Text 7"/>
          <p:cNvSpPr/>
          <p:nvPr/>
        </p:nvSpPr>
        <p:spPr>
          <a:xfrm>
            <a:off x="822960" y="4142232"/>
            <a:ext cx="10545775" cy="2157984"/>
          </a:xfrm>
          <a:prstGeom prst="rect">
            <a:avLst/>
          </a:prstGeom>
          <a:noFill/>
          <a:ln/>
        </p:spPr>
        <p:txBody>
          <a:bodyPr wrap="square" rtlCol="0" anchor="ctr"/>
          <a:lstStyle/>
          <a:p>
            <a:pPr algn="l" indent="0" marL="0">
              <a:buNone/>
            </a:pPr>
            <a:r>
              <a:rPr lang="en-US" sz="1500" dirty="0">
                <a:solidFill>
                  <a:srgbClr val="1B2A4A"/>
                </a:solidFill>
                <a:latin typeface="Calibri" pitchFamily="34" charset="0"/>
                <a:ea typeface="Calibri" pitchFamily="34" charset="-122"/>
                <a:cs typeface="Calibri" pitchFamily="34" charset="-120"/>
              </a:rPr>
              <a:t>Keeping them in sync is what makes them a usable audit trail later, not just a snapshot of intent at one point in time that nobody bothered to update.</a:t>
            </a:r>
            <a:endParaRPr lang="en-US" sz="1500" dirty="0"/>
          </a:p>
        </p:txBody>
      </p:sp>
      <p:sp>
        <p:nvSpPr>
          <p:cNvPr id="10" name="Text 8"/>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6</a:t>
            </a:r>
            <a:endParaRPr lang="en-US" sz="1000" dirty="0"/>
          </a:p>
        </p:txBody>
      </p:sp>
      <p:sp>
        <p:nvSpPr>
          <p:cNvPr id="11" name="Text 9"/>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640080"/>
            <a:ext cx="11094415" cy="320040"/>
          </a:xfrm>
          <a:prstGeom prst="rect">
            <a:avLst/>
          </a:prstGeom>
          <a:noFill/>
          <a:ln/>
        </p:spPr>
        <p:txBody>
          <a:bodyPr wrap="square" rtlCol="0" anchor="ctr"/>
          <a:lstStyle/>
          <a:p>
            <a:pPr indent="0" marL="0">
              <a:buNone/>
            </a:pPr>
            <a:r>
              <a:rPr lang="en-US" sz="1300" b="1" spc="100" kern="0" dirty="0">
                <a:solidFill>
                  <a:srgbClr val="9FB3D1"/>
                </a:solidFill>
                <a:latin typeface="Calibri" pitchFamily="34" charset="0"/>
                <a:ea typeface="Calibri" pitchFamily="34" charset="-122"/>
                <a:cs typeface="Calibri" pitchFamily="34" charset="-120"/>
              </a:rPr>
              <a:t>WHY IT MATTERS</a:t>
            </a:r>
            <a:endParaRPr lang="en-US" sz="1300" dirty="0"/>
          </a:p>
        </p:txBody>
      </p:sp>
      <p:sp>
        <p:nvSpPr>
          <p:cNvPr id="3" name="Text 1"/>
          <p:cNvSpPr/>
          <p:nvPr/>
        </p:nvSpPr>
        <p:spPr>
          <a:xfrm>
            <a:off x="548640" y="1051560"/>
            <a:ext cx="10180015" cy="1645920"/>
          </a:xfrm>
          <a:prstGeom prst="rect">
            <a:avLst/>
          </a:prstGeom>
          <a:noFill/>
          <a:ln/>
        </p:spPr>
        <p:txBody>
          <a:bodyPr wrap="square" rtlCol="0" anchor="t"/>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The riskiest changes are the ones that look done.</a:t>
            </a:r>
            <a:endParaRPr lang="en-US" sz="2800" dirty="0"/>
          </a:p>
        </p:txBody>
      </p:sp>
      <p:sp>
        <p:nvSpPr>
          <p:cNvPr id="4" name="Shape 2"/>
          <p:cNvSpPr/>
          <p:nvPr/>
        </p:nvSpPr>
        <p:spPr>
          <a:xfrm>
            <a:off x="548640" y="3017520"/>
            <a:ext cx="11094415" cy="713232"/>
          </a:xfrm>
          <a:prstGeom prst="roundRect">
            <a:avLst>
              <a:gd name="adj" fmla="val 10256"/>
            </a:avLst>
          </a:prstGeom>
          <a:solidFill>
            <a:srgbClr val="233A63"/>
          </a:solidFill>
          <a:ln/>
        </p:spPr>
      </p:sp>
      <p:sp>
        <p:nvSpPr>
          <p:cNvPr id="5" name="Text 3"/>
          <p:cNvSpPr/>
          <p:nvPr/>
        </p:nvSpPr>
        <p:spPr>
          <a:xfrm>
            <a:off x="822960" y="3017520"/>
            <a:ext cx="10545775" cy="713232"/>
          </a:xfrm>
          <a:prstGeom prst="rect">
            <a:avLst/>
          </a:prstGeom>
          <a:noFill/>
          <a:ln/>
        </p:spPr>
        <p:txBody>
          <a:bodyPr wrap="square" rtlCol="0" anchor="ctr"/>
          <a:lstStyle/>
          <a:p>
            <a:pPr indent="0" marL="0">
              <a:buNone/>
            </a:pPr>
            <a:r>
              <a:rPr lang="en-US" sz="1500" dirty="0">
                <a:solidFill>
                  <a:srgbClr val="E4ECFA"/>
                </a:solidFill>
                <a:latin typeface="Calibri" pitchFamily="34" charset="0"/>
                <a:ea typeface="Calibri" pitchFamily="34" charset="-122"/>
                <a:cs typeface="Calibri" pitchFamily="34" charset="-120"/>
              </a:rPr>
              <a:t>Confident output and correct output are not the same thing: an agent can produce polished, well-structured code that is still wrong in a way that's hard to spot at a glance.</a:t>
            </a:r>
            <a:endParaRPr lang="en-US" sz="1500" dirty="0"/>
          </a:p>
        </p:txBody>
      </p:sp>
      <p:sp>
        <p:nvSpPr>
          <p:cNvPr id="6" name="Shape 4"/>
          <p:cNvSpPr/>
          <p:nvPr/>
        </p:nvSpPr>
        <p:spPr>
          <a:xfrm>
            <a:off x="548640" y="3886200"/>
            <a:ext cx="11094415" cy="713232"/>
          </a:xfrm>
          <a:prstGeom prst="roundRect">
            <a:avLst>
              <a:gd name="adj" fmla="val 10256"/>
            </a:avLst>
          </a:prstGeom>
          <a:solidFill>
            <a:srgbClr val="233A63"/>
          </a:solidFill>
          <a:ln/>
        </p:spPr>
      </p:sp>
      <p:sp>
        <p:nvSpPr>
          <p:cNvPr id="7" name="Text 5"/>
          <p:cNvSpPr/>
          <p:nvPr/>
        </p:nvSpPr>
        <p:spPr>
          <a:xfrm>
            <a:off x="822960" y="3886200"/>
            <a:ext cx="10545775" cy="713232"/>
          </a:xfrm>
          <a:prstGeom prst="rect">
            <a:avLst/>
          </a:prstGeom>
          <a:noFill/>
          <a:ln/>
        </p:spPr>
        <p:txBody>
          <a:bodyPr wrap="square" rtlCol="0" anchor="ctr"/>
          <a:lstStyle/>
          <a:p>
            <a:pPr indent="0" marL="0">
              <a:buNone/>
            </a:pPr>
            <a:r>
              <a:rPr lang="en-US" sz="1500" dirty="0">
                <a:solidFill>
                  <a:srgbClr val="E4ECFA"/>
                </a:solidFill>
                <a:latin typeface="Calibri" pitchFamily="34" charset="0"/>
                <a:ea typeface="Calibri" pitchFamily="34" charset="-122"/>
                <a:cs typeface="Calibri" pitchFamily="34" charset="-120"/>
              </a:rPr>
              <a:t>The gap between them is exactly what human review exists to catch, which is why this step doesn't get skipped even after every automated gate has already passed.</a:t>
            </a:r>
            <a:endParaRPr lang="en-US" sz="1500" dirty="0"/>
          </a:p>
        </p:txBody>
      </p:sp>
      <p:sp>
        <p:nvSpPr>
          <p:cNvPr id="8" name="Text 6"/>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6</a:t>
            </a:r>
            <a:endParaRPr lang="en-US" sz="1000" dirty="0"/>
          </a:p>
        </p:txBody>
      </p:sp>
      <p:sp>
        <p:nvSpPr>
          <p:cNvPr id="9" name="Text 7"/>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74B5"/>
        </a:solidFill>
      </p:bgPr>
    </p:bg>
    <p:spTree>
      <p:nvGrpSpPr>
        <p:cNvPr id="1" name=""/>
        <p:cNvGrpSpPr/>
        <p:nvPr/>
      </p:nvGrpSpPr>
      <p:grpSpPr>
        <a:xfrm>
          <a:off x="0" y="0"/>
          <a:ext cx="0" cy="0"/>
          <a:chOff x="0" y="0"/>
          <a:chExt cx="0" cy="0"/>
        </a:xfrm>
      </p:grpSpPr>
      <p:sp>
        <p:nvSpPr>
          <p:cNvPr id="2" name="Text 0"/>
          <p:cNvSpPr/>
          <p:nvPr/>
        </p:nvSpPr>
        <p:spPr>
          <a:xfrm>
            <a:off x="548640" y="2468880"/>
            <a:ext cx="11094415" cy="365760"/>
          </a:xfrm>
          <a:prstGeom prst="rect">
            <a:avLst/>
          </a:prstGeom>
          <a:noFill/>
          <a:ln/>
        </p:spPr>
        <p:txBody>
          <a:bodyPr wrap="square" rtlCol="0" anchor="ctr"/>
          <a:lstStyle/>
          <a:p>
            <a:pPr algn="l" indent="0" marL="0">
              <a:buNone/>
            </a:pPr>
            <a:r>
              <a:rPr lang="en-US" sz="1400" b="1" spc="200" kern="0" dirty="0">
                <a:solidFill>
                  <a:srgbClr val="D8E6F5"/>
                </a:solidFill>
                <a:latin typeface="Calibri" pitchFamily="34" charset="0"/>
                <a:ea typeface="Calibri" pitchFamily="34" charset="-122"/>
                <a:cs typeface="Calibri" pitchFamily="34" charset="-120"/>
              </a:rPr>
              <a:t>APPLYING THE CONCEPTS</a:t>
            </a:r>
            <a:endParaRPr lang="en-US" sz="1400" dirty="0"/>
          </a:p>
        </p:txBody>
      </p:sp>
      <p:sp>
        <p:nvSpPr>
          <p:cNvPr id="3" name="Text 1"/>
          <p:cNvSpPr/>
          <p:nvPr/>
        </p:nvSpPr>
        <p:spPr>
          <a:xfrm>
            <a:off x="548640" y="2834640"/>
            <a:ext cx="11094415" cy="1188720"/>
          </a:xfrm>
          <a:prstGeom prst="rect">
            <a:avLst/>
          </a:prstGeom>
          <a:noFill/>
          <a:ln/>
        </p:spPr>
        <p:txBody>
          <a:bodyPr wrap="square" rtlCol="0" anchor="ctr"/>
          <a:lstStyle/>
          <a:p>
            <a:pPr algn="l" indent="0" marL="0">
              <a:buNone/>
            </a:pPr>
            <a:r>
              <a:rPr lang="en-US" sz="4000" b="1" dirty="0">
                <a:solidFill>
                  <a:srgbClr val="FFFFFF"/>
                </a:solidFill>
                <a:latin typeface="Times New Roman" pitchFamily="34" charset="0"/>
                <a:ea typeface="Times New Roman" pitchFamily="34" charset="-122"/>
                <a:cs typeface="Times New Roman" pitchFamily="34" charset="-120"/>
              </a:rPr>
              <a:t>GitHub Spec Kit</a:t>
            </a:r>
            <a:endParaRPr lang="en-US" sz="4000" dirty="0"/>
          </a:p>
        </p:txBody>
      </p:sp>
      <p:sp>
        <p:nvSpPr>
          <p:cNvPr id="4" name="Text 2"/>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6</a:t>
            </a:r>
            <a:endParaRPr lang="en-US" sz="1000" dirty="0"/>
          </a:p>
        </p:txBody>
      </p:sp>
      <p:sp>
        <p:nvSpPr>
          <p:cNvPr id="5" name="Text 3"/>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554480" cy="365760"/>
          </a:xfrm>
          <a:prstGeom prst="roundRect">
            <a:avLst>
              <a:gd name="adj" fmla="val 50000"/>
            </a:avLst>
          </a:prstGeom>
          <a:solidFill>
            <a:srgbClr val="2E74B5"/>
          </a:solidFill>
          <a:ln/>
        </p:spPr>
      </p:sp>
      <p:sp>
        <p:nvSpPr>
          <p:cNvPr id="3" name="Text 1"/>
          <p:cNvSpPr/>
          <p:nvPr/>
        </p:nvSpPr>
        <p:spPr>
          <a:xfrm>
            <a:off x="548640" y="457200"/>
            <a:ext cx="155448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SPEC KIT</a:t>
            </a:r>
            <a:endParaRPr lang="en-US" sz="1200" dirty="0"/>
          </a:p>
        </p:txBody>
      </p:sp>
      <p:sp>
        <p:nvSpPr>
          <p:cNvPr id="4" name="Text 2"/>
          <p:cNvSpPr/>
          <p:nvPr/>
        </p:nvSpPr>
        <p:spPr>
          <a:xfrm>
            <a:off x="548640" y="914400"/>
            <a:ext cx="11094415" cy="594360"/>
          </a:xfrm>
          <a:prstGeom prst="rect">
            <a:avLst/>
          </a:prstGeom>
          <a:noFill/>
          <a:ln/>
        </p:spPr>
        <p:txBody>
          <a:bodyPr wrap="square" rtlCol="0" anchor="ctr"/>
          <a:lstStyle/>
          <a:p>
            <a:pPr indent="0" marL="0">
              <a:buNone/>
            </a:pPr>
            <a:r>
              <a:rPr lang="en-US" sz="2500" b="1" dirty="0">
                <a:solidFill>
                  <a:srgbClr val="1B2A4A"/>
                </a:solidFill>
                <a:latin typeface="Times New Roman" pitchFamily="34" charset="0"/>
                <a:ea typeface="Times New Roman" pitchFamily="34" charset="-122"/>
                <a:cs typeface="Times New Roman" pitchFamily="34" charset="-120"/>
              </a:rPr>
              <a:t>Keeping Specs and Constitution Current</a:t>
            </a:r>
            <a:endParaRPr lang="en-US" sz="2500" dirty="0"/>
          </a:p>
        </p:txBody>
      </p:sp>
      <p:sp>
        <p:nvSpPr>
          <p:cNvPr id="5" name="Shape 3"/>
          <p:cNvSpPr/>
          <p:nvPr/>
        </p:nvSpPr>
        <p:spPr>
          <a:xfrm>
            <a:off x="548640" y="1691640"/>
            <a:ext cx="11094415" cy="1417320"/>
          </a:xfrm>
          <a:prstGeom prst="roundRect">
            <a:avLst>
              <a:gd name="adj" fmla="val 5161"/>
            </a:avLst>
          </a:prstGeom>
          <a:solidFill>
            <a:srgbClr val="F2F5F9"/>
          </a:solidFill>
          <a:ln/>
        </p:spPr>
      </p:sp>
      <p:sp>
        <p:nvSpPr>
          <p:cNvPr id="6" name="Shape 4"/>
          <p:cNvSpPr/>
          <p:nvPr/>
        </p:nvSpPr>
        <p:spPr>
          <a:xfrm>
            <a:off x="777240" y="2199132"/>
            <a:ext cx="2834640" cy="402336"/>
          </a:xfrm>
          <a:prstGeom prst="roundRect">
            <a:avLst>
              <a:gd name="adj" fmla="val 13636"/>
            </a:avLst>
          </a:prstGeom>
          <a:solidFill>
            <a:srgbClr val="1B2A4A"/>
          </a:solidFill>
          <a:ln/>
        </p:spPr>
      </p:sp>
      <p:sp>
        <p:nvSpPr>
          <p:cNvPr id="7" name="Text 5"/>
          <p:cNvSpPr/>
          <p:nvPr/>
        </p:nvSpPr>
        <p:spPr>
          <a:xfrm>
            <a:off x="777240" y="2199132"/>
            <a:ext cx="2834640" cy="402336"/>
          </a:xfrm>
          <a:prstGeom prst="rect">
            <a:avLst/>
          </a:prstGeom>
          <a:noFill/>
          <a:ln/>
        </p:spPr>
        <p:txBody>
          <a:bodyPr wrap="square" rtlCol="0" anchor="ctr"/>
          <a:lstStyle/>
          <a:p>
            <a:pPr algn="ctr" indent="0" marL="0">
              <a:buNone/>
            </a:pPr>
            <a:r>
              <a:rPr lang="en-US" sz="1200" dirty="0">
                <a:solidFill>
                  <a:srgbClr val="8FE3C7"/>
                </a:solidFill>
                <a:latin typeface="Courier New" pitchFamily="34" charset="0"/>
                <a:ea typeface="Courier New" pitchFamily="34" charset="-122"/>
                <a:cs typeface="Courier New" pitchFamily="34" charset="-120"/>
              </a:rPr>
              <a:t>/speckit.analyze</a:t>
            </a:r>
            <a:endParaRPr lang="en-US" sz="1200" dirty="0"/>
          </a:p>
        </p:txBody>
      </p:sp>
      <p:sp>
        <p:nvSpPr>
          <p:cNvPr id="8" name="Text 6"/>
          <p:cNvSpPr/>
          <p:nvPr/>
        </p:nvSpPr>
        <p:spPr>
          <a:xfrm>
            <a:off x="3840480" y="1764792"/>
            <a:ext cx="7573975" cy="1271016"/>
          </a:xfrm>
          <a:prstGeom prst="rect">
            <a:avLst/>
          </a:prstGeom>
          <a:noFill/>
          <a:ln/>
        </p:spPr>
        <p:txBody>
          <a:bodyPr wrap="square" rtlCol="0" anchor="ctr"/>
          <a:lstStyle/>
          <a:p>
            <a:pPr indent="0" marL="0">
              <a:buNone/>
            </a:pPr>
            <a:r>
              <a:rPr lang="en-US" sz="1350" dirty="0">
                <a:solidFill>
                  <a:srgbClr val="1B2A4A"/>
                </a:solidFill>
                <a:latin typeface="Calibri" pitchFamily="34" charset="0"/>
                <a:ea typeface="Calibri" pitchFamily="34" charset="-122"/>
                <a:cs typeface="Calibri" pitchFamily="34" charset="-120"/>
              </a:rPr>
              <a:t>Re-run after implementation as an extra review pass, not just before, to catch drift between what was built and what was specified, in case the implementation quietly diverged from the plan along the way.</a:t>
            </a:r>
            <a:endParaRPr lang="en-US" sz="1350" dirty="0"/>
          </a:p>
        </p:txBody>
      </p:sp>
      <p:sp>
        <p:nvSpPr>
          <p:cNvPr id="9" name="Shape 7"/>
          <p:cNvSpPr/>
          <p:nvPr/>
        </p:nvSpPr>
        <p:spPr>
          <a:xfrm>
            <a:off x="548640" y="3218688"/>
            <a:ext cx="11094415" cy="1417320"/>
          </a:xfrm>
          <a:prstGeom prst="roundRect">
            <a:avLst>
              <a:gd name="adj" fmla="val 5161"/>
            </a:avLst>
          </a:prstGeom>
          <a:solidFill>
            <a:srgbClr val="F2F5F9"/>
          </a:solidFill>
          <a:ln/>
        </p:spPr>
      </p:sp>
      <p:sp>
        <p:nvSpPr>
          <p:cNvPr id="10" name="Text 8"/>
          <p:cNvSpPr/>
          <p:nvPr/>
        </p:nvSpPr>
        <p:spPr>
          <a:xfrm>
            <a:off x="822960" y="3291840"/>
            <a:ext cx="10545775" cy="1271016"/>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Closing the gap: </a:t>
            </a:r>
            <a:pPr indent="0" marL="0">
              <a:buNone/>
            </a:pPr>
            <a:r>
              <a:rPr lang="en-US" sz="1400" dirty="0">
                <a:solidFill>
                  <a:srgbClr val="1B2A4A"/>
                </a:solidFill>
                <a:latin typeface="Calibri" pitchFamily="34" charset="0"/>
                <a:ea typeface="Calibri" pitchFamily="34" charset="-122"/>
                <a:cs typeface="Calibri" pitchFamily="34" charset="-120"/>
              </a:rPr>
              <a:t>When review surfaces a gap, update the constitution or the spec directly (via /speckit.specify or another /speckit.clarify pass) rather than letting the code silently diverge from them, so the documentation stays the thing you can actually trust.</a:t>
            </a:r>
            <a:endParaRPr lang="en-US" sz="1400" dirty="0"/>
          </a:p>
        </p:txBody>
      </p:sp>
      <p:sp>
        <p:nvSpPr>
          <p:cNvPr id="11" name="Shape 9"/>
          <p:cNvSpPr/>
          <p:nvPr/>
        </p:nvSpPr>
        <p:spPr>
          <a:xfrm>
            <a:off x="548640" y="4745736"/>
            <a:ext cx="11094415" cy="1417320"/>
          </a:xfrm>
          <a:prstGeom prst="roundRect">
            <a:avLst>
              <a:gd name="adj" fmla="val 5161"/>
            </a:avLst>
          </a:prstGeom>
          <a:solidFill>
            <a:srgbClr val="F2F5F9"/>
          </a:solidFill>
          <a:ln/>
        </p:spPr>
      </p:sp>
      <p:sp>
        <p:nvSpPr>
          <p:cNvPr id="12" name="Shape 10"/>
          <p:cNvSpPr/>
          <p:nvPr/>
        </p:nvSpPr>
        <p:spPr>
          <a:xfrm>
            <a:off x="777240" y="5253228"/>
            <a:ext cx="2834640" cy="402336"/>
          </a:xfrm>
          <a:prstGeom prst="roundRect">
            <a:avLst>
              <a:gd name="adj" fmla="val 13636"/>
            </a:avLst>
          </a:prstGeom>
          <a:solidFill>
            <a:srgbClr val="1B2A4A"/>
          </a:solidFill>
          <a:ln/>
        </p:spPr>
      </p:sp>
      <p:sp>
        <p:nvSpPr>
          <p:cNvPr id="13" name="Text 11"/>
          <p:cNvSpPr/>
          <p:nvPr/>
        </p:nvSpPr>
        <p:spPr>
          <a:xfrm>
            <a:off x="777240" y="5253228"/>
            <a:ext cx="2834640" cy="402336"/>
          </a:xfrm>
          <a:prstGeom prst="rect">
            <a:avLst/>
          </a:prstGeom>
          <a:noFill/>
          <a:ln/>
        </p:spPr>
        <p:txBody>
          <a:bodyPr wrap="square" rtlCol="0" anchor="ctr"/>
          <a:lstStyle/>
          <a:p>
            <a:pPr algn="ctr" indent="0" marL="0">
              <a:buNone/>
            </a:pPr>
            <a:r>
              <a:rPr lang="en-US" sz="1200" dirty="0">
                <a:solidFill>
                  <a:srgbClr val="8FE3C7"/>
                </a:solidFill>
                <a:latin typeface="Courier New" pitchFamily="34" charset="0"/>
                <a:ea typeface="Courier New" pitchFamily="34" charset="-122"/>
                <a:cs typeface="Courier New" pitchFamily="34" charset="-120"/>
              </a:rPr>
              <a:t>/speckit.converge</a:t>
            </a:r>
            <a:endParaRPr lang="en-US" sz="1200" dirty="0"/>
          </a:p>
        </p:txBody>
      </p:sp>
      <p:sp>
        <p:nvSpPr>
          <p:cNvPr id="14" name="Text 12"/>
          <p:cNvSpPr/>
          <p:nvPr/>
        </p:nvSpPr>
        <p:spPr>
          <a:xfrm>
            <a:off x="3840480" y="4818888"/>
            <a:ext cx="7573975" cy="1271016"/>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Assesses the codebase against the feature's spec, plan, and tasks and appends any missed work as new tasks. Append-only: it never edits or deletes code directly, so it's a safe way to surface gaps without risking an unreviewed change.</a:t>
            </a:r>
            <a:endParaRPr lang="en-US" sz="1200" dirty="0"/>
          </a:p>
        </p:txBody>
      </p:sp>
      <p:sp>
        <p:nvSpPr>
          <p:cNvPr id="15" name="Shape 13"/>
          <p:cNvSpPr/>
          <p:nvPr/>
        </p:nvSpPr>
        <p:spPr>
          <a:xfrm>
            <a:off x="9814255" y="4837176"/>
            <a:ext cx="1645920" cy="292608"/>
          </a:xfrm>
          <a:prstGeom prst="roundRect">
            <a:avLst>
              <a:gd name="adj" fmla="val 50000"/>
            </a:avLst>
          </a:prstGeom>
          <a:solidFill>
            <a:srgbClr val="FFF2CC"/>
          </a:solidFill>
          <a:ln/>
        </p:spPr>
      </p:sp>
      <p:sp>
        <p:nvSpPr>
          <p:cNvPr id="16" name="Text 14"/>
          <p:cNvSpPr/>
          <p:nvPr/>
        </p:nvSpPr>
        <p:spPr>
          <a:xfrm>
            <a:off x="9814255" y="4837176"/>
            <a:ext cx="1645920" cy="292608"/>
          </a:xfrm>
          <a:prstGeom prst="rect">
            <a:avLst/>
          </a:prstGeom>
          <a:noFill/>
          <a:ln/>
        </p:spPr>
        <p:txBody>
          <a:bodyPr wrap="square" rtlCol="0" anchor="ctr"/>
          <a:lstStyle/>
          <a:p>
            <a:pPr algn="ctr" indent="0" marL="0">
              <a:buNone/>
            </a:pPr>
            <a:r>
              <a:rPr lang="en-US" sz="950" b="1" dirty="0">
                <a:solidFill>
                  <a:srgbClr val="8A6D1E"/>
                </a:solidFill>
                <a:latin typeface="Calibri" pitchFamily="34" charset="0"/>
                <a:ea typeface="Calibri" pitchFamily="34" charset="-122"/>
                <a:cs typeface="Calibri" pitchFamily="34" charset="-120"/>
              </a:rPr>
              <a:t>NEWER IN TOOLKIT</a:t>
            </a:r>
            <a:endParaRPr lang="en-US" sz="950" dirty="0"/>
          </a:p>
        </p:txBody>
      </p:sp>
      <p:sp>
        <p:nvSpPr>
          <p:cNvPr id="17" name="Text 15"/>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6</a:t>
            </a:r>
            <a:endParaRPr lang="en-US" sz="1000" dirty="0"/>
          </a:p>
        </p:txBody>
      </p:sp>
      <p:sp>
        <p:nvSpPr>
          <p:cNvPr id="18" name="Text 16"/>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548640" y="2468880"/>
            <a:ext cx="11094415" cy="365760"/>
          </a:xfrm>
          <a:prstGeom prst="rect">
            <a:avLst/>
          </a:prstGeom>
          <a:noFill/>
          <a:ln/>
        </p:spPr>
        <p:txBody>
          <a:bodyPr wrap="square" rtlCol="0" anchor="ctr"/>
          <a:lstStyle/>
          <a:p>
            <a:pPr algn="l" indent="0" marL="0">
              <a:buNone/>
            </a:pPr>
            <a:r>
              <a:rPr lang="en-US" sz="1400" b="1" spc="200" kern="0" dirty="0">
                <a:solidFill>
                  <a:srgbClr val="D8E6F5"/>
                </a:solidFill>
                <a:latin typeface="Calibri" pitchFamily="34" charset="0"/>
                <a:ea typeface="Calibri" pitchFamily="34" charset="-122"/>
                <a:cs typeface="Calibri" pitchFamily="34" charset="-120"/>
              </a:rPr>
              <a:t>APPLYING THE CONCEPTS</a:t>
            </a:r>
            <a:endParaRPr lang="en-US" sz="1400" dirty="0"/>
          </a:p>
        </p:txBody>
      </p:sp>
      <p:sp>
        <p:nvSpPr>
          <p:cNvPr id="3" name="Text 1"/>
          <p:cNvSpPr/>
          <p:nvPr/>
        </p:nvSpPr>
        <p:spPr>
          <a:xfrm>
            <a:off x="548640" y="2834640"/>
            <a:ext cx="11094415" cy="1188720"/>
          </a:xfrm>
          <a:prstGeom prst="rect">
            <a:avLst/>
          </a:prstGeom>
          <a:noFill/>
          <a:ln/>
        </p:spPr>
        <p:txBody>
          <a:bodyPr wrap="square" rtlCol="0" anchor="ctr"/>
          <a:lstStyle/>
          <a:p>
            <a:pPr algn="l" indent="0" marL="0">
              <a:buNone/>
            </a:pPr>
            <a:r>
              <a:rPr lang="en-US" sz="4000" b="1" dirty="0">
                <a:solidFill>
                  <a:srgbClr val="FFFFFF"/>
                </a:solidFill>
                <a:latin typeface="Times New Roman" pitchFamily="34" charset="0"/>
                <a:ea typeface="Times New Roman" pitchFamily="34" charset="-122"/>
                <a:cs typeface="Times New Roman" pitchFamily="34" charset="-120"/>
              </a:rPr>
              <a:t>OpenSpec</a:t>
            </a:r>
            <a:endParaRPr lang="en-US" sz="4000" dirty="0"/>
          </a:p>
        </p:txBody>
      </p:sp>
      <p:sp>
        <p:nvSpPr>
          <p:cNvPr id="4" name="Text 2"/>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6</a:t>
            </a:r>
            <a:endParaRPr lang="en-US" sz="1000" dirty="0"/>
          </a:p>
        </p:txBody>
      </p:sp>
      <p:sp>
        <p:nvSpPr>
          <p:cNvPr id="5" name="Text 3"/>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554480" cy="365760"/>
          </a:xfrm>
          <a:prstGeom prst="roundRect">
            <a:avLst>
              <a:gd name="adj" fmla="val 50000"/>
            </a:avLst>
          </a:prstGeom>
          <a:solidFill>
            <a:srgbClr val="1C7293"/>
          </a:solidFill>
          <a:ln/>
        </p:spPr>
      </p:sp>
      <p:sp>
        <p:nvSpPr>
          <p:cNvPr id="3" name="Text 1"/>
          <p:cNvSpPr/>
          <p:nvPr/>
        </p:nvSpPr>
        <p:spPr>
          <a:xfrm>
            <a:off x="548640" y="457200"/>
            <a:ext cx="155448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OPENSPEC</a:t>
            </a:r>
            <a:endParaRPr lang="en-US" sz="1200" dirty="0"/>
          </a:p>
        </p:txBody>
      </p:sp>
      <p:sp>
        <p:nvSpPr>
          <p:cNvPr id="4" name="Text 2"/>
          <p:cNvSpPr/>
          <p:nvPr/>
        </p:nvSpPr>
        <p:spPr>
          <a:xfrm>
            <a:off x="548640" y="914400"/>
            <a:ext cx="11094415" cy="594360"/>
          </a:xfrm>
          <a:prstGeom prst="rect">
            <a:avLst/>
          </a:prstGeom>
          <a:noFill/>
          <a:ln/>
        </p:spPr>
        <p:txBody>
          <a:bodyPr wrap="square" rtlCol="0" anchor="ctr"/>
          <a:lstStyle/>
          <a:p>
            <a:pPr indent="0" marL="0">
              <a:buNone/>
            </a:pPr>
            <a:r>
              <a:rPr lang="en-US" sz="2500" b="1" dirty="0">
                <a:solidFill>
                  <a:srgbClr val="1B2A4A"/>
                </a:solidFill>
                <a:latin typeface="Times New Roman" pitchFamily="34" charset="0"/>
                <a:ea typeface="Times New Roman" pitchFamily="34" charset="-122"/>
                <a:cs typeface="Times New Roman" pitchFamily="34" charset="-120"/>
              </a:rPr>
              <a:t>Verify and Update</a:t>
            </a:r>
            <a:endParaRPr lang="en-US" sz="2500" dirty="0"/>
          </a:p>
        </p:txBody>
      </p:sp>
      <p:sp>
        <p:nvSpPr>
          <p:cNvPr id="5" name="Shape 3"/>
          <p:cNvSpPr/>
          <p:nvPr/>
        </p:nvSpPr>
        <p:spPr>
          <a:xfrm>
            <a:off x="548640" y="1691640"/>
            <a:ext cx="11094415" cy="1417320"/>
          </a:xfrm>
          <a:prstGeom prst="roundRect">
            <a:avLst>
              <a:gd name="adj" fmla="val 5161"/>
            </a:avLst>
          </a:prstGeom>
          <a:solidFill>
            <a:srgbClr val="F2F5F9"/>
          </a:solidFill>
          <a:ln/>
        </p:spPr>
      </p:sp>
      <p:sp>
        <p:nvSpPr>
          <p:cNvPr id="6" name="Shape 4"/>
          <p:cNvSpPr/>
          <p:nvPr/>
        </p:nvSpPr>
        <p:spPr>
          <a:xfrm>
            <a:off x="777240" y="2199132"/>
            <a:ext cx="2834640" cy="402336"/>
          </a:xfrm>
          <a:prstGeom prst="roundRect">
            <a:avLst>
              <a:gd name="adj" fmla="val 13636"/>
            </a:avLst>
          </a:prstGeom>
          <a:solidFill>
            <a:srgbClr val="1B2A4A"/>
          </a:solidFill>
          <a:ln/>
        </p:spPr>
      </p:sp>
      <p:sp>
        <p:nvSpPr>
          <p:cNvPr id="7" name="Text 5"/>
          <p:cNvSpPr/>
          <p:nvPr/>
        </p:nvSpPr>
        <p:spPr>
          <a:xfrm>
            <a:off x="777240" y="2199132"/>
            <a:ext cx="2834640" cy="402336"/>
          </a:xfrm>
          <a:prstGeom prst="rect">
            <a:avLst/>
          </a:prstGeom>
          <a:noFill/>
          <a:ln/>
        </p:spPr>
        <p:txBody>
          <a:bodyPr wrap="square" rtlCol="0" anchor="ctr"/>
          <a:lstStyle/>
          <a:p>
            <a:pPr algn="ctr" indent="0" marL="0">
              <a:buNone/>
            </a:pPr>
            <a:r>
              <a:rPr lang="en-US" sz="1200" dirty="0">
                <a:solidFill>
                  <a:srgbClr val="8FE3C7"/>
                </a:solidFill>
                <a:latin typeface="Courier New" pitchFamily="34" charset="0"/>
                <a:ea typeface="Courier New" pitchFamily="34" charset="-122"/>
                <a:cs typeface="Courier New" pitchFamily="34" charset="-120"/>
              </a:rPr>
              <a:t>/opsx:verify</a:t>
            </a:r>
            <a:endParaRPr lang="en-US" sz="1200" dirty="0"/>
          </a:p>
        </p:txBody>
      </p:sp>
      <p:sp>
        <p:nvSpPr>
          <p:cNvPr id="8" name="Text 6"/>
          <p:cNvSpPr/>
          <p:nvPr/>
        </p:nvSpPr>
        <p:spPr>
          <a:xfrm>
            <a:off x="3840480" y="1764792"/>
            <a:ext cx="7573975" cy="1271016"/>
          </a:xfrm>
          <a:prstGeom prst="rect">
            <a:avLst/>
          </a:prstGeom>
          <a:noFill/>
          <a:ln/>
        </p:spPr>
        <p:txBody>
          <a:bodyPr wrap="square" rtlCol="0" anchor="ctr"/>
          <a:lstStyle/>
          <a:p>
            <a:pPr indent="0" marL="0">
              <a:buNone/>
            </a:pPr>
            <a:r>
              <a:rPr lang="en-US" sz="1350" dirty="0">
                <a:solidFill>
                  <a:srgbClr val="1B2A4A"/>
                </a:solidFill>
                <a:latin typeface="Calibri" pitchFamily="34" charset="0"/>
                <a:ea typeface="Calibri" pitchFamily="34" charset="-122"/>
                <a:cs typeface="Calibri" pitchFamily="34" charset="-120"/>
              </a:rPr>
              <a:t>Validates implementation against the change's artifacts across Completeness, Correctness, and Coherence. Reports CRITICAL, WARNING, or SUGGESTION issues, so a team can triage by severity instead of treating every finding the same way.</a:t>
            </a:r>
            <a:endParaRPr lang="en-US" sz="1350" dirty="0"/>
          </a:p>
        </p:txBody>
      </p:sp>
      <p:sp>
        <p:nvSpPr>
          <p:cNvPr id="9" name="Shape 7"/>
          <p:cNvSpPr/>
          <p:nvPr/>
        </p:nvSpPr>
        <p:spPr>
          <a:xfrm>
            <a:off x="548640" y="3218688"/>
            <a:ext cx="11094415" cy="1417320"/>
          </a:xfrm>
          <a:prstGeom prst="roundRect">
            <a:avLst>
              <a:gd name="adj" fmla="val 5161"/>
            </a:avLst>
          </a:prstGeom>
          <a:solidFill>
            <a:srgbClr val="F2F5F9"/>
          </a:solidFill>
          <a:ln/>
        </p:spPr>
      </p:sp>
      <p:sp>
        <p:nvSpPr>
          <p:cNvPr id="10" name="Shape 8"/>
          <p:cNvSpPr/>
          <p:nvPr/>
        </p:nvSpPr>
        <p:spPr>
          <a:xfrm>
            <a:off x="777240" y="3726180"/>
            <a:ext cx="2834640" cy="402336"/>
          </a:xfrm>
          <a:prstGeom prst="roundRect">
            <a:avLst>
              <a:gd name="adj" fmla="val 13636"/>
            </a:avLst>
          </a:prstGeom>
          <a:solidFill>
            <a:srgbClr val="1B2A4A"/>
          </a:solidFill>
          <a:ln/>
        </p:spPr>
      </p:sp>
      <p:sp>
        <p:nvSpPr>
          <p:cNvPr id="11" name="Text 9"/>
          <p:cNvSpPr/>
          <p:nvPr/>
        </p:nvSpPr>
        <p:spPr>
          <a:xfrm>
            <a:off x="777240" y="3726180"/>
            <a:ext cx="2834640" cy="402336"/>
          </a:xfrm>
          <a:prstGeom prst="rect">
            <a:avLst/>
          </a:prstGeom>
          <a:noFill/>
          <a:ln/>
        </p:spPr>
        <p:txBody>
          <a:bodyPr wrap="square" rtlCol="0" anchor="ctr"/>
          <a:lstStyle/>
          <a:p>
            <a:pPr algn="ctr" indent="0" marL="0">
              <a:buNone/>
            </a:pPr>
            <a:r>
              <a:rPr lang="en-US" sz="1200" dirty="0">
                <a:solidFill>
                  <a:srgbClr val="8FE3C7"/>
                </a:solidFill>
                <a:latin typeface="Courier New" pitchFamily="34" charset="0"/>
                <a:ea typeface="Courier New" pitchFamily="34" charset="-122"/>
                <a:cs typeface="Courier New" pitchFamily="34" charset="-120"/>
              </a:rPr>
              <a:t>/opsx:update</a:t>
            </a:r>
            <a:endParaRPr lang="en-US" sz="1200" dirty="0"/>
          </a:p>
        </p:txBody>
      </p:sp>
      <p:sp>
        <p:nvSpPr>
          <p:cNvPr id="12" name="Text 10"/>
          <p:cNvSpPr/>
          <p:nvPr/>
        </p:nvSpPr>
        <p:spPr>
          <a:xfrm>
            <a:off x="3840480" y="3291840"/>
            <a:ext cx="7573975" cy="1271016"/>
          </a:xfrm>
          <a:prstGeom prst="rect">
            <a:avLst/>
          </a:prstGeom>
          <a:noFill/>
          <a:ln/>
        </p:spPr>
        <p:txBody>
          <a:bodyPr wrap="square" rtlCol="0" anchor="ctr"/>
          <a:lstStyle/>
          <a:p>
            <a:pPr indent="0" marL="0">
              <a:buNone/>
            </a:pPr>
            <a:r>
              <a:rPr lang="en-US" sz="1350" dirty="0">
                <a:solidFill>
                  <a:srgbClr val="1B2A4A"/>
                </a:solidFill>
                <a:latin typeface="Calibri" pitchFamily="34" charset="0"/>
                <a:ea typeface="Calibri" pitchFamily="34" charset="-122"/>
                <a:cs typeface="Calibri" pitchFamily="34" charset="-120"/>
              </a:rPr>
              <a:t>Keeps artifacts coherent when something changes: revise one and it reconciles the others, the drift problem handled directly instead of relying on someone remembering to update every related file by hand.</a:t>
            </a:r>
            <a:endParaRPr lang="en-US" sz="1350" dirty="0"/>
          </a:p>
        </p:txBody>
      </p:sp>
      <p:sp>
        <p:nvSpPr>
          <p:cNvPr id="13" name="Text 11"/>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6</a:t>
            </a:r>
            <a:endParaRPr lang="en-US" sz="1000" dirty="0"/>
          </a:p>
        </p:txBody>
      </p:sp>
      <p:sp>
        <p:nvSpPr>
          <p:cNvPr id="14" name="Text 12"/>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4415" cy="594360"/>
          </a:xfrm>
          <a:prstGeom prst="rect">
            <a:avLst/>
          </a:prstGeom>
          <a:noFill/>
          <a:ln/>
        </p:spPr>
        <p:txBody>
          <a:bodyPr wrap="square" rtlCol="0" anchor="ctr"/>
          <a:lstStyle/>
          <a:p>
            <a:pPr indent="0" marL="0">
              <a:buNone/>
            </a:pPr>
            <a:r>
              <a:rPr lang="en-US" sz="2600" b="1" dirty="0">
                <a:solidFill>
                  <a:srgbClr val="1B2A4A"/>
                </a:solidFill>
                <a:latin typeface="Times New Roman" pitchFamily="34" charset="0"/>
                <a:ea typeface="Times New Roman" pitchFamily="34" charset="-122"/>
                <a:cs typeface="Times New Roman" pitchFamily="34" charset="-120"/>
              </a:rPr>
              <a:t>Module 6 at a Glance</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43200"/>
                <a:gridCol w="4175608"/>
                <a:gridCol w="4175608"/>
              </a:tblGrid>
              <a:tr h="914400">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GitHub Spec Kit</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2E74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OpenSpec</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C7293"/>
                    </a:solidFill>
                  </a:tcPr>
                </a:tc>
              </a:tr>
              <a:tr h="91440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Post-implementation review</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2F5F9"/>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Re-run /speckit.analyze; update constitution/spec</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/opsx:verify (Completeness/Correctness/Coherence)</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r>
              <a:tr h="91440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Keeping artifacts in sync</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2F5F9"/>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Update constitution, spec, or clarify answers</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/opsx:update</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r>
              <a:tr h="91440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Shared goal</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2F5F9"/>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Confirm what got built still matches what was decided</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Same</a:t>
                      </a:r>
                      <a:endParaRPr lang="en-US" sz="1300" dirty="0">
                        <a:latin typeface="Calibri" charset="0"/>
                        <a:ea typeface="Calibri" charset="0"/>
                        <a:cs typeface="Calibri" charset="0"/>
                      </a:endParaRPr>
                    </a:p>
                  </a:txBody>
                  <a:tcPr marL="91440" marR="91440" marT="45720" marB="45720"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tcPr>
                </a:tc>
              </a:tr>
            </a:tbl>
          </a:graphicData>
        </a:graphic>
      </p:graphicFrame>
      <p:sp>
        <p:nvSpPr>
          <p:cNvPr id="4" name="Text 1"/>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5A6B85"/>
                </a:solidFill>
                <a:latin typeface="Calibri" pitchFamily="34" charset="0"/>
                <a:ea typeface="Calibri" pitchFamily="34" charset="-122"/>
                <a:cs typeface="Calibri" pitchFamily="34" charset="-120"/>
              </a:rPr>
              <a:t>Module 6</a:t>
            </a:r>
            <a:endParaRPr lang="en-US" sz="1000" dirty="0"/>
          </a:p>
        </p:txBody>
      </p:sp>
      <p:sp>
        <p:nvSpPr>
          <p:cNvPr id="5" name="Text 2"/>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5A6B85"/>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A6B85"/>
                </a:solidFill>
                <a:latin typeface="Calibri"/>
                <a:ea typeface="Calibri"/>
                <a:cs typeface="Calibri"/>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Key Takeaways</a:t>
            </a:r>
            <a:endParaRPr lang="en-US" sz="3000" dirty="0"/>
          </a:p>
        </p:txBody>
      </p:sp>
      <p:sp>
        <p:nvSpPr>
          <p:cNvPr id="3" name="Shape 1"/>
          <p:cNvSpPr/>
          <p:nvPr/>
        </p:nvSpPr>
        <p:spPr>
          <a:xfrm>
            <a:off x="548640" y="1627632"/>
            <a:ext cx="128016" cy="128016"/>
          </a:xfrm>
          <a:prstGeom prst="ellipse">
            <a:avLst/>
          </a:prstGeom>
          <a:solidFill>
            <a:srgbClr val="C0504D"/>
          </a:solidFill>
          <a:ln/>
        </p:spPr>
      </p:sp>
      <p:sp>
        <p:nvSpPr>
          <p:cNvPr id="4" name="Text 2"/>
          <p:cNvSpPr/>
          <p:nvPr/>
        </p:nvSpPr>
        <p:spPr>
          <a:xfrm>
            <a:off x="914400" y="1417320"/>
            <a:ext cx="10728655" cy="1280160"/>
          </a:xfrm>
          <a:prstGeom prst="rect">
            <a:avLst/>
          </a:prstGeom>
          <a:noFill/>
          <a:ln/>
        </p:spPr>
        <p:txBody>
          <a:bodyPr wrap="square" rtlCol="0" anchor="t"/>
          <a:lstStyle/>
          <a:p>
            <a:pPr indent="0" marL="0">
              <a:buNone/>
            </a:pPr>
            <a:r>
              <a:rPr lang="en-US" sz="1700" dirty="0">
                <a:solidFill>
                  <a:srgbClr val="E4ECFA"/>
                </a:solidFill>
                <a:latin typeface="Calibri" pitchFamily="34" charset="0"/>
                <a:ea typeface="Calibri" pitchFamily="34" charset="-122"/>
                <a:cs typeface="Calibri" pitchFamily="34" charset="-120"/>
              </a:rPr>
              <a:t>Passing every gate is not the same as being correct, which is why human review still has a job to do afterward.</a:t>
            </a:r>
            <a:endParaRPr lang="en-US" sz="1700" dirty="0"/>
          </a:p>
        </p:txBody>
      </p:sp>
      <p:sp>
        <p:nvSpPr>
          <p:cNvPr id="5" name="Shape 3"/>
          <p:cNvSpPr/>
          <p:nvPr/>
        </p:nvSpPr>
        <p:spPr>
          <a:xfrm>
            <a:off x="548640" y="2999232"/>
            <a:ext cx="128016" cy="128016"/>
          </a:xfrm>
          <a:prstGeom prst="ellipse">
            <a:avLst/>
          </a:prstGeom>
          <a:solidFill>
            <a:srgbClr val="C0504D"/>
          </a:solidFill>
          <a:ln/>
        </p:spPr>
      </p:sp>
      <p:sp>
        <p:nvSpPr>
          <p:cNvPr id="6" name="Text 4"/>
          <p:cNvSpPr/>
          <p:nvPr/>
        </p:nvSpPr>
        <p:spPr>
          <a:xfrm>
            <a:off x="914400" y="2788920"/>
            <a:ext cx="10728655" cy="1280160"/>
          </a:xfrm>
          <a:prstGeom prst="rect">
            <a:avLst/>
          </a:prstGeom>
          <a:noFill/>
          <a:ln/>
        </p:spPr>
        <p:txBody>
          <a:bodyPr wrap="square" rtlCol="0" anchor="t"/>
          <a:lstStyle/>
          <a:p>
            <a:pPr indent="0" marL="0">
              <a:buNone/>
            </a:pPr>
            <a:r>
              <a:rPr lang="en-US" sz="1700" dirty="0">
                <a:solidFill>
                  <a:srgbClr val="E4ECFA"/>
                </a:solidFill>
                <a:latin typeface="Calibri" pitchFamily="34" charset="0"/>
                <a:ea typeface="Calibri" pitchFamily="34" charset="-122"/>
                <a:cs typeface="Calibri" pitchFamily="34" charset="-120"/>
              </a:rPr>
              <a:t>Both frameworks exist to answer the same question after code lands: does it still match what was decided, and if not, why not?</a:t>
            </a:r>
            <a:endParaRPr lang="en-US" sz="1700" dirty="0"/>
          </a:p>
        </p:txBody>
      </p:sp>
      <p:sp>
        <p:nvSpPr>
          <p:cNvPr id="7" name="Shape 5"/>
          <p:cNvSpPr/>
          <p:nvPr/>
        </p:nvSpPr>
        <p:spPr>
          <a:xfrm>
            <a:off x="548640" y="4370832"/>
            <a:ext cx="128016" cy="128016"/>
          </a:xfrm>
          <a:prstGeom prst="ellipse">
            <a:avLst/>
          </a:prstGeom>
          <a:solidFill>
            <a:srgbClr val="C0504D"/>
          </a:solidFill>
          <a:ln/>
        </p:spPr>
      </p:sp>
      <p:sp>
        <p:nvSpPr>
          <p:cNvPr id="8" name="Text 6"/>
          <p:cNvSpPr/>
          <p:nvPr/>
        </p:nvSpPr>
        <p:spPr>
          <a:xfrm>
            <a:off x="914400" y="4160520"/>
            <a:ext cx="10728655" cy="1280160"/>
          </a:xfrm>
          <a:prstGeom prst="rect">
            <a:avLst/>
          </a:prstGeom>
          <a:noFill/>
          <a:ln/>
        </p:spPr>
        <p:txBody>
          <a:bodyPr wrap="square" rtlCol="0" anchor="t"/>
          <a:lstStyle/>
          <a:p>
            <a:pPr indent="0" marL="0">
              <a:buNone/>
            </a:pPr>
            <a:r>
              <a:rPr lang="en-US" sz="1700" dirty="0">
                <a:solidFill>
                  <a:srgbClr val="E4ECFA"/>
                </a:solidFill>
                <a:latin typeface="Calibri" pitchFamily="34" charset="0"/>
                <a:ea typeface="Calibri" pitchFamily="34" charset="-122"/>
                <a:cs typeface="Calibri" pitchFamily="34" charset="-120"/>
              </a:rPr>
              <a:t>Keeping documentation current is what makes it worth trusting the next time someone, or some agent, reads it.</a:t>
            </a:r>
            <a:endParaRPr lang="en-US" sz="1700" dirty="0"/>
          </a:p>
        </p:txBody>
      </p:sp>
      <p:sp>
        <p:nvSpPr>
          <p:cNvPr id="9" name="Text 7"/>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rgbClr val="8CA3C7"/>
                </a:solidFill>
                <a:latin typeface="Calibri" pitchFamily="34" charset="0"/>
                <a:ea typeface="Calibri" pitchFamily="34" charset="-122"/>
                <a:cs typeface="Calibri" pitchFamily="34" charset="-120"/>
              </a:rPr>
              <a:t>Module 6</a:t>
            </a:r>
            <a:endParaRPr lang="en-US" sz="1000" dirty="0"/>
          </a:p>
        </p:txBody>
      </p:sp>
      <p:sp>
        <p:nvSpPr>
          <p:cNvPr id="10" name="Text 8"/>
          <p:cNvSpPr/>
          <p:nvPr/>
        </p:nvSpPr>
        <p:spPr>
          <a:xfrm>
            <a:off x="6156655" y="6473952"/>
            <a:ext cx="5486400" cy="274320"/>
          </a:xfrm>
          <a:prstGeom prst="rect">
            <a:avLst/>
          </a:prstGeom>
          <a:noFill/>
          <a:ln/>
        </p:spPr>
        <p:txBody>
          <a:bodyPr wrap="square" rtlCol="0" anchor="ctr"/>
          <a:lstStyle/>
          <a:p>
            <a:pPr algn="r" indent="0" marL="0">
              <a:buNone/>
            </a:pPr>
            <a:r>
              <a:rPr lang="en-US" sz="1000" dirty="0">
                <a:solidFill>
                  <a:srgbClr val="8CA3C7"/>
                </a:solidFill>
                <a:latin typeface="Calibri" pitchFamily="34" charset="0"/>
                <a:ea typeface="Calibri" pitchFamily="34" charset="-122"/>
                <a:cs typeface="Calibri" pitchFamily="34" charset="-120"/>
              </a:rPr>
              <a:t>Spec-Driven Development with Agentic AI</a:t>
            </a:r>
            <a:endParaRPr lang="en-US" sz="1000" dirty="0"/>
          </a:p>
        </p:txBody>
      </p:sp>
      <p:sp>
        <p:nvSpPr>
          <p:cNvPr id="25" name="Slide Number Placeholder 0"/>
          <p:cNvSpPr>
            <a:spLocks noGrp="1"/>
          </p:cNvSpPr>
          <p:nvPr>
            <p:ph type="sldNum" sz="quarter" idx="4294967295"/>
          </p:nvPr>
        </p:nvSpPr>
        <p:spPr>
          <a:xfrm>
            <a:off x="5821528" y="6473952"/>
            <a:ext cx="54864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8CA3C7"/>
                </a:solidFill>
                <a:latin typeface="Calibri"/>
                <a:ea typeface="Calibri"/>
                <a:cs typeface="Calibri"/>
              </a:defRPr>
            </a:lvl1pPr>
          </a:lstStyle>
          <a:p>
            <a:pPr algn="ct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2026-08-15T17:56:13Z</dcterms:created>
  <dcterms:modified xsi:type="dcterms:W3CDTF">2026-08-15T17:56:13Z</dcterms:modified>
</cp:coreProperties>
</file>