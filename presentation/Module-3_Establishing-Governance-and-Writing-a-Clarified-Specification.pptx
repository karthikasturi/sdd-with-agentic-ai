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B2A4A"/>
          </a:solidFill>
          <a:ln/>
        </p:spPr>
      </p:sp>
      <p:sp>
        <p:nvSpPr>
          <p:cNvPr id="3" name="Shape 1"/>
          <p:cNvSpPr/>
          <p:nvPr/>
        </p:nvSpPr>
        <p:spPr>
          <a:xfrm>
            <a:off x="548640" y="640080"/>
            <a:ext cx="2377440" cy="457200"/>
          </a:xfrm>
          <a:prstGeom prst="roundRect">
            <a:avLst>
              <a:gd name="adj" fmla="val 50000"/>
            </a:avLst>
          </a:prstGeom>
          <a:solidFill>
            <a:srgbClr val="C0504D"/>
          </a:solidFill>
          <a:ln/>
        </p:spPr>
      </p:sp>
      <p:sp>
        <p:nvSpPr>
          <p:cNvPr id="4" name="Text 2"/>
          <p:cNvSpPr/>
          <p:nvPr/>
        </p:nvSpPr>
        <p:spPr>
          <a:xfrm>
            <a:off x="548640" y="640080"/>
            <a:ext cx="2377440"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DAY 1</a:t>
            </a:r>
            <a:endParaRPr lang="en-US" sz="1400" dirty="0"/>
          </a:p>
        </p:txBody>
      </p:sp>
      <p:sp>
        <p:nvSpPr>
          <p:cNvPr id="5" name="Text 3"/>
          <p:cNvSpPr/>
          <p:nvPr/>
        </p:nvSpPr>
        <p:spPr>
          <a:xfrm>
            <a:off x="548640" y="1371600"/>
            <a:ext cx="11094415" cy="457200"/>
          </a:xfrm>
          <a:prstGeom prst="rect">
            <a:avLst/>
          </a:prstGeom>
          <a:noFill/>
          <a:ln/>
        </p:spPr>
        <p:txBody>
          <a:bodyPr wrap="square" rtlCol="0" anchor="ctr"/>
          <a:lstStyle/>
          <a:p>
            <a:pPr algn="l" indent="0" marL="0">
              <a:buNone/>
            </a:pPr>
            <a:r>
              <a:rPr lang="en-US" sz="1600" dirty="0">
                <a:solidFill>
                  <a:srgbClr val="9FB3D1"/>
                </a:solidFill>
                <a:latin typeface="Calibri" pitchFamily="34" charset="0"/>
                <a:ea typeface="Calibri" pitchFamily="34" charset="-122"/>
                <a:cs typeface="Calibri" pitchFamily="34" charset="-120"/>
              </a:rPr>
              <a:t>Module 3</a:t>
            </a:r>
            <a:endParaRPr lang="en-US" sz="1600" dirty="0"/>
          </a:p>
        </p:txBody>
      </p:sp>
      <p:sp>
        <p:nvSpPr>
          <p:cNvPr id="6" name="Text 4"/>
          <p:cNvSpPr/>
          <p:nvPr/>
        </p:nvSpPr>
        <p:spPr>
          <a:xfrm>
            <a:off x="548640" y="1828800"/>
            <a:ext cx="11094415" cy="2194560"/>
          </a:xfrm>
          <a:prstGeom prst="rect">
            <a:avLst/>
          </a:prstGeom>
          <a:noFill/>
          <a:ln/>
        </p:spPr>
        <p:txBody>
          <a:bodyPr wrap="square" rtlCol="0" anchor="t"/>
          <a:lstStyle/>
          <a:p>
            <a:pPr algn="l" indent="0" marL="0">
              <a:buNone/>
            </a:pPr>
            <a:r>
              <a:rPr lang="en-US" sz="4400" b="1" dirty="0">
                <a:solidFill>
                  <a:srgbClr val="FFFFFF"/>
                </a:solidFill>
                <a:latin typeface="Times New Roman" pitchFamily="34" charset="0"/>
                <a:ea typeface="Times New Roman" pitchFamily="34" charset="-122"/>
                <a:cs typeface="Times New Roman" pitchFamily="34" charset="-120"/>
              </a:rPr>
              <a:t>Establishing Governance and Writing a Clarified Specification</a:t>
            </a:r>
            <a:endParaRPr lang="en-US" sz="4400" dirty="0"/>
          </a:p>
        </p:txBody>
      </p:sp>
      <p:sp>
        <p:nvSpPr>
          <p:cNvPr id="7" name="Shape 5"/>
          <p:cNvSpPr/>
          <p:nvPr/>
        </p:nvSpPr>
        <p:spPr>
          <a:xfrm>
            <a:off x="548640" y="4206240"/>
            <a:ext cx="2011680" cy="0"/>
          </a:xfrm>
          <a:prstGeom prst="line">
            <a:avLst/>
          </a:prstGeom>
          <a:noFill/>
          <a:ln w="38100">
            <a:solidFill>
              <a:srgbClr val="C0504D"/>
            </a:solidFill>
            <a:prstDash val="solid"/>
          </a:ln>
        </p:spPr>
      </p:sp>
      <p:sp>
        <p:nvSpPr>
          <p:cNvPr id="8" name="Text 6"/>
          <p:cNvSpPr/>
          <p:nvPr/>
        </p:nvSpPr>
        <p:spPr>
          <a:xfrm>
            <a:off x="548640" y="4434840"/>
            <a:ext cx="10180015" cy="1280160"/>
          </a:xfrm>
          <a:prstGeom prst="rect">
            <a:avLst/>
          </a:prstGeom>
          <a:noFill/>
          <a:ln/>
        </p:spPr>
        <p:txBody>
          <a:bodyPr wrap="square" rtlCol="0" anchor="t"/>
          <a:lstStyle/>
          <a:p>
            <a:pPr algn="l" indent="0" marL="0">
              <a:buNone/>
            </a:pPr>
            <a:r>
              <a:rPr lang="en-US" sz="1800" i="1" dirty="0">
                <a:solidFill>
                  <a:srgbClr val="CADCFC"/>
                </a:solidFill>
                <a:latin typeface="Calibri" pitchFamily="34" charset="0"/>
                <a:ea typeface="Calibri" pitchFamily="34" charset="-122"/>
                <a:cs typeface="Calibri" pitchFamily="34" charset="-120"/>
              </a:rPr>
              <a:t>Set the standard everything else gets checked against, then write against it.</a:t>
            </a:r>
            <a:endParaRPr lang="en-US" sz="18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731520"/>
          </a:xfrm>
          <a:prstGeom prst="rect">
            <a:avLst/>
          </a:prstGeom>
          <a:noFill/>
          <a:ln/>
        </p:spPr>
        <p:txBody>
          <a:bodyPr wrap="square" rtlCol="0" anchor="ctr"/>
          <a:lstStyle/>
          <a:p>
            <a:pPr indent="0" marL="0">
              <a:buNone/>
            </a:pPr>
            <a:r>
              <a:rPr lang="en-US" sz="3200" b="1" dirty="0">
                <a:solidFill>
                  <a:srgbClr val="1B2A4A"/>
                </a:solidFill>
                <a:latin typeface="Times New Roman" pitchFamily="34" charset="0"/>
                <a:ea typeface="Times New Roman" pitchFamily="34" charset="-122"/>
                <a:cs typeface="Times New Roman" pitchFamily="34" charset="-120"/>
              </a:rPr>
              <a:t>What You'll Learn</a:t>
            </a:r>
            <a:endParaRPr lang="en-US" sz="3200" dirty="0"/>
          </a:p>
        </p:txBody>
      </p:sp>
      <p:sp>
        <p:nvSpPr>
          <p:cNvPr id="3" name="Shape 1"/>
          <p:cNvSpPr/>
          <p:nvPr/>
        </p:nvSpPr>
        <p:spPr>
          <a:xfrm>
            <a:off x="548640" y="1554480"/>
            <a:ext cx="502920" cy="502920"/>
          </a:xfrm>
          <a:prstGeom prst="ellipse">
            <a:avLst/>
          </a:prstGeom>
          <a:solidFill>
            <a:srgbClr val="2E74B5"/>
          </a:solidFill>
          <a:ln/>
        </p:spPr>
      </p:sp>
      <p:sp>
        <p:nvSpPr>
          <p:cNvPr id="4" name="Text 2"/>
          <p:cNvSpPr/>
          <p:nvPr/>
        </p:nvSpPr>
        <p:spPr>
          <a:xfrm>
            <a:off x="548640" y="155448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p:nvPr/>
        </p:nvSpPr>
        <p:spPr>
          <a:xfrm>
            <a:off x="1325880" y="150876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Encode project or per-service governance in a constitution</a:t>
            </a:r>
            <a:endParaRPr lang="en-US" sz="1600" dirty="0"/>
          </a:p>
        </p:txBody>
      </p:sp>
      <p:sp>
        <p:nvSpPr>
          <p:cNvPr id="6" name="Shape 4"/>
          <p:cNvSpPr/>
          <p:nvPr/>
        </p:nvSpPr>
        <p:spPr>
          <a:xfrm>
            <a:off x="548640" y="2514600"/>
            <a:ext cx="502920" cy="502920"/>
          </a:xfrm>
          <a:prstGeom prst="ellipse">
            <a:avLst/>
          </a:prstGeom>
          <a:solidFill>
            <a:srgbClr val="C0504D"/>
          </a:solidFill>
          <a:ln/>
        </p:spPr>
      </p:sp>
      <p:sp>
        <p:nvSpPr>
          <p:cNvPr id="7" name="Text 5"/>
          <p:cNvSpPr/>
          <p:nvPr/>
        </p:nvSpPr>
        <p:spPr>
          <a:xfrm>
            <a:off x="548640" y="251460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8" name="Text 6"/>
          <p:cNvSpPr/>
          <p:nvPr/>
        </p:nvSpPr>
        <p:spPr>
          <a:xfrm>
            <a:off x="1325880" y="246888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Write a spec from both a feature request and a defect report using EARS-style requirements</a:t>
            </a:r>
            <a:endParaRPr lang="en-US" sz="1600" dirty="0"/>
          </a:p>
        </p:txBody>
      </p:sp>
      <p:sp>
        <p:nvSpPr>
          <p:cNvPr id="9" name="Shape 7"/>
          <p:cNvSpPr/>
          <p:nvPr/>
        </p:nvSpPr>
        <p:spPr>
          <a:xfrm>
            <a:off x="548640" y="3474720"/>
            <a:ext cx="502920" cy="502920"/>
          </a:xfrm>
          <a:prstGeom prst="ellipse">
            <a:avLst/>
          </a:prstGeom>
          <a:solidFill>
            <a:srgbClr val="2E74B5"/>
          </a:solidFill>
          <a:ln/>
        </p:spPr>
      </p:sp>
      <p:sp>
        <p:nvSpPr>
          <p:cNvPr id="10" name="Text 8"/>
          <p:cNvSpPr/>
          <p:nvPr/>
        </p:nvSpPr>
        <p:spPr>
          <a:xfrm>
            <a:off x="548640" y="347472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1" name="Text 9"/>
          <p:cNvSpPr/>
          <p:nvPr/>
        </p:nvSpPr>
        <p:spPr>
          <a:xfrm>
            <a:off x="1325880" y="342900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Run a clarify pass to surface ambiguity before planning</a:t>
            </a:r>
            <a:endParaRPr lang="en-US" sz="1600" dirty="0"/>
          </a:p>
        </p:txBody>
      </p:sp>
      <p:sp>
        <p:nvSpPr>
          <p:cNvPr id="12" name="Shape 10"/>
          <p:cNvSpPr/>
          <p:nvPr/>
        </p:nvSpPr>
        <p:spPr>
          <a:xfrm>
            <a:off x="548640" y="4434840"/>
            <a:ext cx="502920" cy="502920"/>
          </a:xfrm>
          <a:prstGeom prst="ellipse">
            <a:avLst/>
          </a:prstGeom>
          <a:solidFill>
            <a:srgbClr val="C0504D"/>
          </a:solidFill>
          <a:ln/>
        </p:spPr>
      </p:sp>
      <p:sp>
        <p:nvSpPr>
          <p:cNvPr id="13" name="Text 11"/>
          <p:cNvSpPr/>
          <p:nvPr/>
        </p:nvSpPr>
        <p:spPr>
          <a:xfrm>
            <a:off x="548640" y="4434840"/>
            <a:ext cx="502920" cy="50292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4" name="Text 12"/>
          <p:cNvSpPr/>
          <p:nvPr/>
        </p:nvSpPr>
        <p:spPr>
          <a:xfrm>
            <a:off x="1325880" y="4389120"/>
            <a:ext cx="10317175" cy="822960"/>
          </a:xfrm>
          <a:prstGeom prst="rect">
            <a:avLst/>
          </a:prstGeom>
          <a:noFill/>
          <a:ln/>
        </p:spPr>
        <p:txBody>
          <a:bodyPr wrap="square" rtlCol="0" anchor="ctr"/>
          <a:lstStyle/>
          <a:p>
            <a:pPr algn="l" indent="0" marL="0">
              <a:buNone/>
            </a:pPr>
            <a:r>
              <a:rPr lang="en-US" sz="1600" dirty="0">
                <a:solidFill>
                  <a:srgbClr val="1B2A4A"/>
                </a:solidFill>
                <a:latin typeface="Calibri" pitchFamily="34" charset="0"/>
                <a:ea typeface="Calibri" pitchFamily="34" charset="-122"/>
                <a:cs typeface="Calibri" pitchFamily="34" charset="-120"/>
              </a:rPr>
              <a:t>Map the SDD lifecycle onto your team's existing SDLC</a:t>
            </a:r>
            <a:endParaRPr lang="en-US" sz="1600" dirty="0"/>
          </a:p>
        </p:txBody>
      </p:sp>
      <p:sp>
        <p:nvSpPr>
          <p:cNvPr id="15" name="Text 13"/>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16" name="Text 14"/>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320040"/>
          </a:xfrm>
          <a:prstGeom prst="rect">
            <a:avLst/>
          </a:prstGeom>
          <a:noFill/>
          <a:ln/>
        </p:spPr>
        <p:txBody>
          <a:bodyPr wrap="square" rtlCol="0" anchor="ctr"/>
          <a:lstStyle/>
          <a:p>
            <a:pPr indent="0" marL="0">
              <a:buNone/>
            </a:pPr>
            <a:r>
              <a:rPr lang="en-US" sz="1300" b="1" spc="100" kern="0" dirty="0">
                <a:solidFill>
                  <a:srgbClr val="C0504D"/>
                </a:solidFill>
                <a:latin typeface="Calibri" pitchFamily="34" charset="0"/>
                <a:ea typeface="Calibri" pitchFamily="34" charset="-122"/>
                <a:cs typeface="Calibri" pitchFamily="34" charset="-120"/>
              </a:rPr>
              <a:t>GOVERNANCE FIRST</a:t>
            </a:r>
            <a:endParaRPr lang="en-US" sz="1300" dirty="0"/>
          </a:p>
        </p:txBody>
      </p:sp>
      <p:sp>
        <p:nvSpPr>
          <p:cNvPr id="3" name="Text 1"/>
          <p:cNvSpPr/>
          <p:nvPr/>
        </p:nvSpPr>
        <p:spPr>
          <a:xfrm>
            <a:off x="548640" y="713232"/>
            <a:ext cx="11094415" cy="640080"/>
          </a:xfrm>
          <a:prstGeom prst="rect">
            <a:avLst/>
          </a:prstGeom>
          <a:noFill/>
          <a:ln/>
        </p:spPr>
        <p:txBody>
          <a:bodyPr wrap="square" rtlCol="0" anchor="ctr"/>
          <a:lstStyle/>
          <a:p>
            <a:pPr indent="0" marL="0">
              <a:buNone/>
            </a:pPr>
            <a:r>
              <a:rPr lang="en-US" sz="2800" b="1" dirty="0">
                <a:solidFill>
                  <a:srgbClr val="1B2A4A"/>
                </a:solidFill>
                <a:latin typeface="Times New Roman" pitchFamily="34" charset="0"/>
                <a:ea typeface="Times New Roman" pitchFamily="34" charset="-122"/>
                <a:cs typeface="Times New Roman" pitchFamily="34" charset="-120"/>
              </a:rPr>
              <a:t>The Constitution</a:t>
            </a:r>
            <a:endParaRPr lang="en-US" sz="2800" dirty="0"/>
          </a:p>
        </p:txBody>
      </p:sp>
      <p:sp>
        <p:nvSpPr>
          <p:cNvPr id="4" name="Shape 2"/>
          <p:cNvSpPr/>
          <p:nvPr/>
        </p:nvSpPr>
        <p:spPr>
          <a:xfrm>
            <a:off x="548640" y="1600200"/>
            <a:ext cx="11094415" cy="1481328"/>
          </a:xfrm>
          <a:prstGeom prst="roundRect">
            <a:avLst>
              <a:gd name="adj" fmla="val 4938"/>
            </a:avLst>
          </a:prstGeom>
          <a:solidFill>
            <a:srgbClr val="F2F5F9"/>
          </a:solidFill>
          <a:ln/>
        </p:spPr>
      </p:sp>
      <p:sp>
        <p:nvSpPr>
          <p:cNvPr id="5" name="Shape 3"/>
          <p:cNvSpPr/>
          <p:nvPr/>
        </p:nvSpPr>
        <p:spPr>
          <a:xfrm>
            <a:off x="548640" y="1600200"/>
            <a:ext cx="73152" cy="1481328"/>
          </a:xfrm>
          <a:prstGeom prst="rect">
            <a:avLst/>
          </a:prstGeom>
          <a:solidFill>
            <a:srgbClr val="2E74B5"/>
          </a:solidFill>
          <a:ln/>
        </p:spPr>
      </p:sp>
      <p:sp>
        <p:nvSpPr>
          <p:cNvPr id="6" name="Text 4"/>
          <p:cNvSpPr/>
          <p:nvPr/>
        </p:nvSpPr>
        <p:spPr>
          <a:xfrm>
            <a:off x="822960" y="1673352"/>
            <a:ext cx="10545775" cy="133502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Encodes principles, code quality standards, testing requirements, and architectural constraints, so "good" is defined once instead of re-argued on every pull request.</a:t>
            </a:r>
            <a:endParaRPr lang="en-US" sz="1500" dirty="0"/>
          </a:p>
        </p:txBody>
      </p:sp>
      <p:sp>
        <p:nvSpPr>
          <p:cNvPr id="7" name="Shape 5"/>
          <p:cNvSpPr/>
          <p:nvPr/>
        </p:nvSpPr>
        <p:spPr>
          <a:xfrm>
            <a:off x="548640" y="3246120"/>
            <a:ext cx="11094415" cy="1481328"/>
          </a:xfrm>
          <a:prstGeom prst="roundRect">
            <a:avLst>
              <a:gd name="adj" fmla="val 4938"/>
            </a:avLst>
          </a:prstGeom>
          <a:solidFill>
            <a:srgbClr val="F2F5F9"/>
          </a:solidFill>
          <a:ln/>
        </p:spPr>
      </p:sp>
      <p:sp>
        <p:nvSpPr>
          <p:cNvPr id="8" name="Shape 6"/>
          <p:cNvSpPr/>
          <p:nvPr/>
        </p:nvSpPr>
        <p:spPr>
          <a:xfrm>
            <a:off x="548640" y="3246120"/>
            <a:ext cx="73152" cy="1481328"/>
          </a:xfrm>
          <a:prstGeom prst="rect">
            <a:avLst/>
          </a:prstGeom>
          <a:solidFill>
            <a:srgbClr val="C0504D"/>
          </a:solidFill>
          <a:ln/>
        </p:spPr>
      </p:sp>
      <p:sp>
        <p:nvSpPr>
          <p:cNvPr id="9" name="Text 7"/>
          <p:cNvSpPr/>
          <p:nvPr/>
        </p:nvSpPr>
        <p:spPr>
          <a:xfrm>
            <a:off x="822960" y="3319272"/>
            <a:ext cx="10545775" cy="133502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Written once up front, informed by Module 2's discovery, and checked against by every later phase, which is what keeps plans and code from drifting away from team standards over time.</a:t>
            </a:r>
            <a:endParaRPr lang="en-US" sz="1500" dirty="0"/>
          </a:p>
        </p:txBody>
      </p:sp>
      <p:sp>
        <p:nvSpPr>
          <p:cNvPr id="10" name="Shape 8"/>
          <p:cNvSpPr/>
          <p:nvPr/>
        </p:nvSpPr>
        <p:spPr>
          <a:xfrm>
            <a:off x="548640" y="4892040"/>
            <a:ext cx="11094415" cy="1481328"/>
          </a:xfrm>
          <a:prstGeom prst="roundRect">
            <a:avLst>
              <a:gd name="adj" fmla="val 4938"/>
            </a:avLst>
          </a:prstGeom>
          <a:solidFill>
            <a:srgbClr val="F2F5F9"/>
          </a:solidFill>
          <a:ln/>
        </p:spPr>
      </p:sp>
      <p:sp>
        <p:nvSpPr>
          <p:cNvPr id="11" name="Shape 9"/>
          <p:cNvSpPr/>
          <p:nvPr/>
        </p:nvSpPr>
        <p:spPr>
          <a:xfrm>
            <a:off x="548640" y="4892040"/>
            <a:ext cx="73152" cy="1481328"/>
          </a:xfrm>
          <a:prstGeom prst="rect">
            <a:avLst/>
          </a:prstGeom>
          <a:solidFill>
            <a:srgbClr val="2E74B5"/>
          </a:solidFill>
          <a:ln/>
        </p:spPr>
      </p:sp>
      <p:sp>
        <p:nvSpPr>
          <p:cNvPr id="12" name="Text 10"/>
          <p:cNvSpPr/>
          <p:nvPr/>
        </p:nvSpPr>
        <p:spPr>
          <a:xfrm>
            <a:off x="822960" y="4965192"/>
            <a:ext cx="10545775" cy="133502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Without it, every generated plan and every piece of code is evaluated against nothing, which means quality depends entirely on whoever happens to be reviewing that day.</a:t>
            </a:r>
            <a:endParaRPr lang="en-US" sz="1500" dirty="0"/>
          </a:p>
        </p:txBody>
      </p:sp>
      <p:sp>
        <p:nvSpPr>
          <p:cNvPr id="13" name="Text 1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14" name="Text 1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94415" cy="320040"/>
          </a:xfrm>
          <a:prstGeom prst="rect">
            <a:avLst/>
          </a:prstGeom>
          <a:noFill/>
          <a:ln/>
        </p:spPr>
        <p:txBody>
          <a:bodyPr wrap="square" rtlCol="0" anchor="ctr"/>
          <a:lstStyle/>
          <a:p>
            <a:pPr indent="0" marL="0">
              <a:buNone/>
            </a:pPr>
            <a:r>
              <a:rPr lang="en-US" sz="1300" b="1" spc="100" kern="0" dirty="0">
                <a:solidFill>
                  <a:srgbClr val="C0504D"/>
                </a:solidFill>
                <a:latin typeface="Calibri" pitchFamily="34" charset="0"/>
                <a:ea typeface="Calibri" pitchFamily="34" charset="-122"/>
                <a:cs typeface="Calibri" pitchFamily="34" charset="-120"/>
              </a:rPr>
              <a:t>WRITING THE SPEC</a:t>
            </a:r>
            <a:endParaRPr lang="en-US" sz="1300" dirty="0"/>
          </a:p>
        </p:txBody>
      </p:sp>
      <p:sp>
        <p:nvSpPr>
          <p:cNvPr id="3" name="Text 1"/>
          <p:cNvSpPr/>
          <p:nvPr/>
        </p:nvSpPr>
        <p:spPr>
          <a:xfrm>
            <a:off x="548640" y="713232"/>
            <a:ext cx="11094415" cy="640080"/>
          </a:xfrm>
          <a:prstGeom prst="rect">
            <a:avLst/>
          </a:prstGeom>
          <a:noFill/>
          <a:ln/>
        </p:spPr>
        <p:txBody>
          <a:bodyPr wrap="square" rtlCol="0" anchor="ctr"/>
          <a:lstStyle/>
          <a:p>
            <a:pPr indent="0" marL="0">
              <a:buNone/>
            </a:pPr>
            <a:r>
              <a:rPr lang="en-US" sz="2800" b="1" dirty="0">
                <a:solidFill>
                  <a:srgbClr val="1B2A4A"/>
                </a:solidFill>
                <a:latin typeface="Times New Roman" pitchFamily="34" charset="0"/>
                <a:ea typeface="Times New Roman" pitchFamily="34" charset="-122"/>
                <a:cs typeface="Times New Roman" pitchFamily="34" charset="-120"/>
              </a:rPr>
              <a:t>EARS-Style Requirements and Clarify</a:t>
            </a:r>
            <a:endParaRPr lang="en-US" sz="2800" dirty="0"/>
          </a:p>
        </p:txBody>
      </p:sp>
      <p:sp>
        <p:nvSpPr>
          <p:cNvPr id="4" name="Shape 2"/>
          <p:cNvSpPr/>
          <p:nvPr/>
        </p:nvSpPr>
        <p:spPr>
          <a:xfrm>
            <a:off x="548640" y="1600200"/>
            <a:ext cx="11094415" cy="1481328"/>
          </a:xfrm>
          <a:prstGeom prst="roundRect">
            <a:avLst>
              <a:gd name="adj" fmla="val 4938"/>
            </a:avLst>
          </a:prstGeom>
          <a:solidFill>
            <a:srgbClr val="F2F5F9"/>
          </a:solidFill>
          <a:ln/>
        </p:spPr>
      </p:sp>
      <p:sp>
        <p:nvSpPr>
          <p:cNvPr id="5" name="Shape 3"/>
          <p:cNvSpPr/>
          <p:nvPr/>
        </p:nvSpPr>
        <p:spPr>
          <a:xfrm>
            <a:off x="548640" y="1600200"/>
            <a:ext cx="73152" cy="1481328"/>
          </a:xfrm>
          <a:prstGeom prst="rect">
            <a:avLst/>
          </a:prstGeom>
          <a:solidFill>
            <a:srgbClr val="2E74B5"/>
          </a:solidFill>
          <a:ln/>
        </p:spPr>
      </p:sp>
      <p:sp>
        <p:nvSpPr>
          <p:cNvPr id="6" name="Text 4"/>
          <p:cNvSpPr/>
          <p:nvPr/>
        </p:nvSpPr>
        <p:spPr>
          <a:xfrm>
            <a:off x="822960" y="1673352"/>
            <a:ext cx="10545775" cy="1335024"/>
          </a:xfrm>
          <a:prstGeom prst="rect">
            <a:avLst/>
          </a:prstGeom>
          <a:noFill/>
          <a:ln/>
        </p:spPr>
        <p:txBody>
          <a:bodyPr wrap="square"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EARS format: </a:t>
            </a:r>
            <a:pPr algn="l" indent="0" marL="0">
              <a:buNone/>
            </a:pPr>
            <a:r>
              <a:rPr lang="en-US" sz="1500" dirty="0">
                <a:solidFill>
                  <a:srgbClr val="1B2A4A"/>
                </a:solidFill>
                <a:latin typeface="Calibri" pitchFamily="34" charset="0"/>
                <a:ea typeface="Calibri" pitchFamily="34" charset="-122"/>
                <a:cs typeface="Calibri" pitchFamily="34" charset="-120"/>
              </a:rPr>
              <a:t>"When/if [condition]... the system shall [response]." Testable, unambiguous, one behavior per statement, so a requirement can be checked off as done or not done, with no room for interpretation.</a:t>
            </a:r>
            <a:endParaRPr lang="en-US" sz="1500" dirty="0"/>
          </a:p>
        </p:txBody>
      </p:sp>
      <p:sp>
        <p:nvSpPr>
          <p:cNvPr id="7" name="Shape 5"/>
          <p:cNvSpPr/>
          <p:nvPr/>
        </p:nvSpPr>
        <p:spPr>
          <a:xfrm>
            <a:off x="548640" y="3246120"/>
            <a:ext cx="11094415" cy="1481328"/>
          </a:xfrm>
          <a:prstGeom prst="roundRect">
            <a:avLst>
              <a:gd name="adj" fmla="val 4938"/>
            </a:avLst>
          </a:prstGeom>
          <a:solidFill>
            <a:srgbClr val="F2F5F9"/>
          </a:solidFill>
          <a:ln/>
        </p:spPr>
      </p:sp>
      <p:sp>
        <p:nvSpPr>
          <p:cNvPr id="8" name="Shape 6"/>
          <p:cNvSpPr/>
          <p:nvPr/>
        </p:nvSpPr>
        <p:spPr>
          <a:xfrm>
            <a:off x="548640" y="3246120"/>
            <a:ext cx="73152" cy="1481328"/>
          </a:xfrm>
          <a:prstGeom prst="rect">
            <a:avLst/>
          </a:prstGeom>
          <a:solidFill>
            <a:srgbClr val="C0504D"/>
          </a:solidFill>
          <a:ln/>
        </p:spPr>
      </p:sp>
      <p:sp>
        <p:nvSpPr>
          <p:cNvPr id="9" name="Text 7"/>
          <p:cNvSpPr/>
          <p:nvPr/>
        </p:nvSpPr>
        <p:spPr>
          <a:xfrm>
            <a:off x="822960" y="3319272"/>
            <a:ext cx="10545775" cy="133502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Specs come from two different sources on this course: a new-feature request and an existing defect pulled from the tracker, because those two inputs need to produce the same rigor of spec even though they start from very different starting points.</a:t>
            </a:r>
            <a:endParaRPr lang="en-US" sz="1500" dirty="0"/>
          </a:p>
        </p:txBody>
      </p:sp>
      <p:sp>
        <p:nvSpPr>
          <p:cNvPr id="10" name="Shape 8"/>
          <p:cNvSpPr/>
          <p:nvPr/>
        </p:nvSpPr>
        <p:spPr>
          <a:xfrm>
            <a:off x="548640" y="4892040"/>
            <a:ext cx="11094415" cy="1481328"/>
          </a:xfrm>
          <a:prstGeom prst="roundRect">
            <a:avLst>
              <a:gd name="adj" fmla="val 4938"/>
            </a:avLst>
          </a:prstGeom>
          <a:solidFill>
            <a:srgbClr val="F2F5F9"/>
          </a:solidFill>
          <a:ln/>
        </p:spPr>
      </p:sp>
      <p:sp>
        <p:nvSpPr>
          <p:cNvPr id="11" name="Shape 9"/>
          <p:cNvSpPr/>
          <p:nvPr/>
        </p:nvSpPr>
        <p:spPr>
          <a:xfrm>
            <a:off x="548640" y="4892040"/>
            <a:ext cx="73152" cy="1481328"/>
          </a:xfrm>
          <a:prstGeom prst="rect">
            <a:avLst/>
          </a:prstGeom>
          <a:solidFill>
            <a:srgbClr val="2E74B5"/>
          </a:solidFill>
          <a:ln/>
        </p:spPr>
      </p:sp>
      <p:sp>
        <p:nvSpPr>
          <p:cNvPr id="12" name="Text 10"/>
          <p:cNvSpPr/>
          <p:nvPr/>
        </p:nvSpPr>
        <p:spPr>
          <a:xfrm>
            <a:off x="822960" y="4965192"/>
            <a:ext cx="10545775" cy="1335024"/>
          </a:xfrm>
          <a:prstGeom prst="rect">
            <a:avLst/>
          </a:prstGeom>
          <a:noFill/>
          <a:ln/>
        </p:spPr>
        <p:txBody>
          <a:bodyPr wrap="square" rtlCol="0" anchor="ctr"/>
          <a:lstStyle/>
          <a:p>
            <a:pPr algn="l" indent="0" marL="0">
              <a:buNone/>
            </a:pPr>
            <a:r>
              <a:rPr lang="en-US" sz="1500" dirty="0">
                <a:solidFill>
                  <a:srgbClr val="1B2A4A"/>
                </a:solidFill>
                <a:latin typeface="Calibri" pitchFamily="34" charset="0"/>
                <a:ea typeface="Calibri" pitchFamily="34" charset="-122"/>
                <a:cs typeface="Calibri" pitchFamily="34" charset="-120"/>
              </a:rPr>
              <a:t>A clarify pass surfaces ambiguities and edge cases before they get baked into a plan, which is far cheaper than discovering them after code has already been written against the wrong assumption.</a:t>
            </a:r>
            <a:endParaRPr lang="en-US" sz="1500" dirty="0"/>
          </a:p>
        </p:txBody>
      </p:sp>
      <p:sp>
        <p:nvSpPr>
          <p:cNvPr id="13" name="Text 1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14" name="Text 1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0080"/>
            <a:ext cx="11094415" cy="320040"/>
          </a:xfrm>
          <a:prstGeom prst="rect">
            <a:avLst/>
          </a:prstGeom>
          <a:noFill/>
          <a:ln/>
        </p:spPr>
        <p:txBody>
          <a:bodyPr wrap="square" rtlCol="0" anchor="ctr"/>
          <a:lstStyle/>
          <a:p>
            <a:pPr indent="0" marL="0">
              <a:buNone/>
            </a:pPr>
            <a:r>
              <a:rPr lang="en-US" sz="1300" b="1" spc="100" kern="0" dirty="0">
                <a:solidFill>
                  <a:srgbClr val="9FB3D1"/>
                </a:solidFill>
                <a:latin typeface="Calibri" pitchFamily="34" charset="0"/>
                <a:ea typeface="Calibri" pitchFamily="34" charset="-122"/>
                <a:cs typeface="Calibri" pitchFamily="34" charset="-120"/>
              </a:rPr>
              <a:t>SDLC MAPPING</a:t>
            </a:r>
            <a:endParaRPr lang="en-US" sz="1300" dirty="0"/>
          </a:p>
        </p:txBody>
      </p:sp>
      <p:sp>
        <p:nvSpPr>
          <p:cNvPr id="3" name="Text 1"/>
          <p:cNvSpPr/>
          <p:nvPr/>
        </p:nvSpPr>
        <p:spPr>
          <a:xfrm>
            <a:off x="548640" y="1051560"/>
            <a:ext cx="10180015" cy="1645920"/>
          </a:xfrm>
          <a:prstGeom prst="rect">
            <a:avLst/>
          </a:prstGeom>
          <a:noFill/>
          <a:ln/>
        </p:spPr>
        <p:txBody>
          <a:bodyPr wrap="square" rtlCol="0" anchor="t"/>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The SDD lifecycle isn't a separate process: it maps onto the SDLC you already run.</a:t>
            </a:r>
            <a:endParaRPr lang="en-US" sz="2800" dirty="0"/>
          </a:p>
        </p:txBody>
      </p:sp>
      <p:sp>
        <p:nvSpPr>
          <p:cNvPr id="4" name="Shape 2"/>
          <p:cNvSpPr/>
          <p:nvPr/>
        </p:nvSpPr>
        <p:spPr>
          <a:xfrm>
            <a:off x="548640" y="3017520"/>
            <a:ext cx="11094415" cy="713232"/>
          </a:xfrm>
          <a:prstGeom prst="roundRect">
            <a:avLst>
              <a:gd name="adj" fmla="val 10256"/>
            </a:avLst>
          </a:prstGeom>
          <a:solidFill>
            <a:srgbClr val="233A63"/>
          </a:solidFill>
          <a:ln/>
        </p:spPr>
      </p:sp>
      <p:sp>
        <p:nvSpPr>
          <p:cNvPr id="5" name="Text 3"/>
          <p:cNvSpPr/>
          <p:nvPr/>
        </p:nvSpPr>
        <p:spPr>
          <a:xfrm>
            <a:off x="822960" y="3017520"/>
            <a:ext cx="10545775" cy="713232"/>
          </a:xfrm>
          <a:prstGeom prst="rect">
            <a:avLst/>
          </a:prstGeom>
          <a:noFill/>
          <a:ln/>
        </p:spPr>
        <p:txBody>
          <a:bodyPr wrap="square" rtlCol="0" anchor="ctr"/>
          <a:lstStyle/>
          <a:p>
            <a:pPr indent="0" marL="0">
              <a:buNone/>
            </a:pPr>
            <a:r>
              <a:rPr lang="en-US" sz="1500" dirty="0">
                <a:solidFill>
                  <a:srgbClr val="E4ECFA"/>
                </a:solidFill>
                <a:latin typeface="Calibri" pitchFamily="34" charset="0"/>
                <a:ea typeface="Calibri" pitchFamily="34" charset="-122"/>
                <a:cs typeface="Calibri" pitchFamily="34" charset="-120"/>
              </a:rPr>
              <a:t>Constitution and clarified spec approximate requirements and design; plan and tasks approximate technical design and iteration planning, so nothing here replaces your existing process, it just gives each phase a concrete, agent-readable artifact.</a:t>
            </a:r>
            <a:endParaRPr lang="en-US" sz="1500" dirty="0"/>
          </a:p>
        </p:txBody>
      </p:sp>
      <p:sp>
        <p:nvSpPr>
          <p:cNvPr id="6" name="Shape 4"/>
          <p:cNvSpPr/>
          <p:nvPr/>
        </p:nvSpPr>
        <p:spPr>
          <a:xfrm>
            <a:off x="548640" y="3886200"/>
            <a:ext cx="11094415" cy="713232"/>
          </a:xfrm>
          <a:prstGeom prst="roundRect">
            <a:avLst>
              <a:gd name="adj" fmla="val 10256"/>
            </a:avLst>
          </a:prstGeom>
          <a:solidFill>
            <a:srgbClr val="233A63"/>
          </a:solidFill>
          <a:ln/>
        </p:spPr>
      </p:sp>
      <p:sp>
        <p:nvSpPr>
          <p:cNvPr id="7" name="Text 5"/>
          <p:cNvSpPr/>
          <p:nvPr/>
        </p:nvSpPr>
        <p:spPr>
          <a:xfrm>
            <a:off x="822960" y="3886200"/>
            <a:ext cx="10545775" cy="713232"/>
          </a:xfrm>
          <a:prstGeom prst="rect">
            <a:avLst/>
          </a:prstGeom>
          <a:noFill/>
          <a:ln/>
        </p:spPr>
        <p:txBody>
          <a:bodyPr wrap="square" rtlCol="0" anchor="ctr"/>
          <a:lstStyle/>
          <a:p>
            <a:pPr indent="0" marL="0">
              <a:buNone/>
            </a:pPr>
            <a:r>
              <a:rPr lang="en-US" sz="1500" dirty="0">
                <a:solidFill>
                  <a:srgbClr val="E4ECFA"/>
                </a:solidFill>
                <a:latin typeface="Calibri" pitchFamily="34" charset="0"/>
                <a:ea typeface="Calibri" pitchFamily="34" charset="-122"/>
                <a:cs typeface="Calibri" pitchFamily="34" charset="-120"/>
              </a:rPr>
              <a:t>Checklist and analyze approximate QA and test planning, implement approximates development, and review plus living docs approximate code review, QA, and maintenance, which is why teams can adopt SDD without abandoning the SDLC stages they already know.</a:t>
            </a:r>
            <a:endParaRPr lang="en-US" sz="1500" dirty="0"/>
          </a:p>
        </p:txBody>
      </p:sp>
      <p:sp>
        <p:nvSpPr>
          <p:cNvPr id="8" name="Text 6"/>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3</a:t>
            </a:r>
            <a:endParaRPr lang="en-US" sz="1000" dirty="0"/>
          </a:p>
        </p:txBody>
      </p:sp>
      <p:sp>
        <p:nvSpPr>
          <p:cNvPr id="9" name="Text 7"/>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E74B5"/>
        </a:solidFill>
      </p:bgPr>
    </p:bg>
    <p:spTree>
      <p:nvGrpSpPr>
        <p:cNvPr id="1" name=""/>
        <p:cNvGrpSpPr/>
        <p:nvPr/>
      </p:nvGrpSpPr>
      <p:grpSpPr>
        <a:xfrm>
          <a:off x="0" y="0"/>
          <a:ext cx="0" cy="0"/>
          <a:chOff x="0" y="0"/>
          <a:chExt cx="0" cy="0"/>
        </a:xfrm>
      </p:grpSpPr>
      <p:sp>
        <p:nvSpPr>
          <p:cNvPr id="2" name="Text 0"/>
          <p:cNvSpPr/>
          <p:nvPr/>
        </p:nvSpPr>
        <p:spPr>
          <a:xfrm>
            <a:off x="548640" y="2468880"/>
            <a:ext cx="11094415" cy="365760"/>
          </a:xfrm>
          <a:prstGeom prst="rect">
            <a:avLst/>
          </a:prstGeom>
          <a:noFill/>
          <a:ln/>
        </p:spPr>
        <p:txBody>
          <a:bodyPr wrap="square" rtlCol="0" anchor="ctr"/>
          <a:lstStyle/>
          <a:p>
            <a:pPr algn="l" indent="0" marL="0">
              <a:buNone/>
            </a:pPr>
            <a:r>
              <a:rPr lang="en-US" sz="1400" b="1" spc="200" kern="0" dirty="0">
                <a:solidFill>
                  <a:srgbClr val="D8E6F5"/>
                </a:solidFill>
                <a:latin typeface="Calibri" pitchFamily="34" charset="0"/>
                <a:ea typeface="Calibri" pitchFamily="34" charset="-122"/>
                <a:cs typeface="Calibri" pitchFamily="34" charset="-120"/>
              </a:rPr>
              <a:t>APPLYING THE CONCEPTS</a:t>
            </a:r>
            <a:endParaRPr lang="en-US" sz="1400" dirty="0"/>
          </a:p>
        </p:txBody>
      </p:sp>
      <p:sp>
        <p:nvSpPr>
          <p:cNvPr id="3" name="Text 1"/>
          <p:cNvSpPr/>
          <p:nvPr/>
        </p:nvSpPr>
        <p:spPr>
          <a:xfrm>
            <a:off x="548640" y="2834640"/>
            <a:ext cx="11094415" cy="1188720"/>
          </a:xfrm>
          <a:prstGeom prst="rect">
            <a:avLst/>
          </a:prstGeom>
          <a:noFill/>
          <a:ln/>
        </p:spPr>
        <p:txBody>
          <a:bodyPr wrap="square" rtlCol="0" anchor="ctr"/>
          <a:lstStyle/>
          <a:p>
            <a:pPr algn="l" indent="0" marL="0">
              <a:buNone/>
            </a:pPr>
            <a:r>
              <a:rPr lang="en-US" sz="4000" b="1" dirty="0">
                <a:solidFill>
                  <a:srgbClr val="FFFFFF"/>
                </a:solidFill>
                <a:latin typeface="Times New Roman" pitchFamily="34" charset="0"/>
                <a:ea typeface="Times New Roman" pitchFamily="34" charset="-122"/>
                <a:cs typeface="Times New Roman" pitchFamily="34" charset="-120"/>
              </a:rPr>
              <a:t>GitHub Spec Kit</a:t>
            </a:r>
            <a:endParaRPr lang="en-US" sz="4000" dirty="0"/>
          </a:p>
        </p:txBody>
      </p:sp>
      <p:sp>
        <p:nvSpPr>
          <p:cNvPr id="4" name="Text 2"/>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3</a:t>
            </a:r>
            <a:endParaRPr lang="en-US" sz="1000" dirty="0"/>
          </a:p>
        </p:txBody>
      </p:sp>
      <p:sp>
        <p:nvSpPr>
          <p:cNvPr id="5" name="Text 3"/>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554480" cy="365760"/>
          </a:xfrm>
          <a:prstGeom prst="roundRect">
            <a:avLst>
              <a:gd name="adj" fmla="val 50000"/>
            </a:avLst>
          </a:prstGeom>
          <a:solidFill>
            <a:srgbClr val="2E74B5"/>
          </a:solidFill>
          <a:ln/>
        </p:spPr>
      </p:sp>
      <p:sp>
        <p:nvSpPr>
          <p:cNvPr id="3" name="Text 1"/>
          <p:cNvSpPr/>
          <p:nvPr/>
        </p:nvSpPr>
        <p:spPr>
          <a:xfrm>
            <a:off x="548640" y="457200"/>
            <a:ext cx="155448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SPEC KIT</a:t>
            </a:r>
            <a:endParaRPr lang="en-US" sz="1200" dirty="0"/>
          </a:p>
        </p:txBody>
      </p:sp>
      <p:sp>
        <p:nvSpPr>
          <p:cNvPr id="4" name="Text 2"/>
          <p:cNvSpPr/>
          <p:nvPr/>
        </p:nvSpPr>
        <p:spPr>
          <a:xfrm>
            <a:off x="548640" y="914400"/>
            <a:ext cx="11094415" cy="594360"/>
          </a:xfrm>
          <a:prstGeom prst="rect">
            <a:avLst/>
          </a:prstGeom>
          <a:noFill/>
          <a:ln/>
        </p:spPr>
        <p:txBody>
          <a:bodyPr wrap="square" rtlCol="0" anchor="ctr"/>
          <a:lstStyle/>
          <a:p>
            <a:pPr indent="0" marL="0">
              <a:buNone/>
            </a:pPr>
            <a:r>
              <a:rPr lang="en-US" sz="2500" b="1" dirty="0">
                <a:solidFill>
                  <a:srgbClr val="1B2A4A"/>
                </a:solidFill>
                <a:latin typeface="Times New Roman" pitchFamily="34" charset="0"/>
                <a:ea typeface="Times New Roman" pitchFamily="34" charset="-122"/>
                <a:cs typeface="Times New Roman" pitchFamily="34" charset="-120"/>
              </a:rPr>
              <a:t>Constitution, Specify, Clarify</a:t>
            </a:r>
            <a:endParaRPr lang="en-US" sz="2500" dirty="0"/>
          </a:p>
        </p:txBody>
      </p:sp>
      <p:sp>
        <p:nvSpPr>
          <p:cNvPr id="5" name="Shape 3"/>
          <p:cNvSpPr/>
          <p:nvPr/>
        </p:nvSpPr>
        <p:spPr>
          <a:xfrm>
            <a:off x="548640" y="1691640"/>
            <a:ext cx="11094415" cy="1417320"/>
          </a:xfrm>
          <a:prstGeom prst="roundRect">
            <a:avLst>
              <a:gd name="adj" fmla="val 5161"/>
            </a:avLst>
          </a:prstGeom>
          <a:solidFill>
            <a:srgbClr val="F2F5F9"/>
          </a:solidFill>
          <a:ln/>
        </p:spPr>
      </p:sp>
      <p:sp>
        <p:nvSpPr>
          <p:cNvPr id="6" name="Shape 4"/>
          <p:cNvSpPr/>
          <p:nvPr/>
        </p:nvSpPr>
        <p:spPr>
          <a:xfrm>
            <a:off x="777240" y="2199132"/>
            <a:ext cx="2834640" cy="402336"/>
          </a:xfrm>
          <a:prstGeom prst="roundRect">
            <a:avLst>
              <a:gd name="adj" fmla="val 13636"/>
            </a:avLst>
          </a:prstGeom>
          <a:solidFill>
            <a:srgbClr val="1B2A4A"/>
          </a:solidFill>
          <a:ln/>
        </p:spPr>
      </p:sp>
      <p:sp>
        <p:nvSpPr>
          <p:cNvPr id="7" name="Text 5"/>
          <p:cNvSpPr/>
          <p:nvPr/>
        </p:nvSpPr>
        <p:spPr>
          <a:xfrm>
            <a:off x="777240" y="2199132"/>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/speckit.constitution</a:t>
            </a:r>
            <a:endParaRPr lang="en-US" sz="1200" dirty="0"/>
          </a:p>
        </p:txBody>
      </p:sp>
      <p:sp>
        <p:nvSpPr>
          <p:cNvPr id="8" name="Text 6"/>
          <p:cNvSpPr/>
          <p:nvPr/>
        </p:nvSpPr>
        <p:spPr>
          <a:xfrm>
            <a:off x="3840480" y="1764792"/>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Creates or updates the constitution and keeps dependent templates in sync, so a change to a principle automatically propagates instead of quietly going stale in one place.</a:t>
            </a:r>
            <a:endParaRPr lang="en-US" sz="1350" dirty="0"/>
          </a:p>
        </p:txBody>
      </p:sp>
      <p:sp>
        <p:nvSpPr>
          <p:cNvPr id="9" name="Shape 7"/>
          <p:cNvSpPr/>
          <p:nvPr/>
        </p:nvSpPr>
        <p:spPr>
          <a:xfrm>
            <a:off x="548640" y="3218688"/>
            <a:ext cx="11094415" cy="1417320"/>
          </a:xfrm>
          <a:prstGeom prst="roundRect">
            <a:avLst>
              <a:gd name="adj" fmla="val 5161"/>
            </a:avLst>
          </a:prstGeom>
          <a:solidFill>
            <a:srgbClr val="F2F5F9"/>
          </a:solidFill>
          <a:ln/>
        </p:spPr>
      </p:sp>
      <p:sp>
        <p:nvSpPr>
          <p:cNvPr id="10" name="Shape 8"/>
          <p:cNvSpPr/>
          <p:nvPr/>
        </p:nvSpPr>
        <p:spPr>
          <a:xfrm>
            <a:off x="777240" y="3726180"/>
            <a:ext cx="2834640" cy="402336"/>
          </a:xfrm>
          <a:prstGeom prst="roundRect">
            <a:avLst>
              <a:gd name="adj" fmla="val 13636"/>
            </a:avLst>
          </a:prstGeom>
          <a:solidFill>
            <a:srgbClr val="1B2A4A"/>
          </a:solidFill>
          <a:ln/>
        </p:spPr>
      </p:sp>
      <p:sp>
        <p:nvSpPr>
          <p:cNvPr id="11" name="Text 9"/>
          <p:cNvSpPr/>
          <p:nvPr/>
        </p:nvSpPr>
        <p:spPr>
          <a:xfrm>
            <a:off x="777240" y="3726180"/>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/speckit.specify</a:t>
            </a:r>
            <a:endParaRPr lang="en-US" sz="1200" dirty="0"/>
          </a:p>
        </p:txBody>
      </p:sp>
      <p:sp>
        <p:nvSpPr>
          <p:cNvPr id="12" name="Text 10"/>
          <p:cNvSpPr/>
          <p:nvPr/>
        </p:nvSpPr>
        <p:spPr>
          <a:xfrm>
            <a:off x="3840480" y="3291840"/>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Creates the feature spec from natural language, focused on what and why, not tech stack, which keeps the spec readable by non-engineers and stable even if the implementation approach later changes.</a:t>
            </a:r>
            <a:endParaRPr lang="en-US" sz="1350" dirty="0"/>
          </a:p>
        </p:txBody>
      </p:sp>
      <p:sp>
        <p:nvSpPr>
          <p:cNvPr id="13" name="Shape 11"/>
          <p:cNvSpPr/>
          <p:nvPr/>
        </p:nvSpPr>
        <p:spPr>
          <a:xfrm>
            <a:off x="548640" y="4745736"/>
            <a:ext cx="11094415" cy="1417320"/>
          </a:xfrm>
          <a:prstGeom prst="roundRect">
            <a:avLst>
              <a:gd name="adj" fmla="val 5161"/>
            </a:avLst>
          </a:prstGeom>
          <a:solidFill>
            <a:srgbClr val="F2F5F9"/>
          </a:solidFill>
          <a:ln/>
        </p:spPr>
      </p:sp>
      <p:sp>
        <p:nvSpPr>
          <p:cNvPr id="14" name="Shape 12"/>
          <p:cNvSpPr/>
          <p:nvPr/>
        </p:nvSpPr>
        <p:spPr>
          <a:xfrm>
            <a:off x="777240" y="5253228"/>
            <a:ext cx="2834640" cy="402336"/>
          </a:xfrm>
          <a:prstGeom prst="roundRect">
            <a:avLst>
              <a:gd name="adj" fmla="val 13636"/>
            </a:avLst>
          </a:prstGeom>
          <a:solidFill>
            <a:srgbClr val="1B2A4A"/>
          </a:solidFill>
          <a:ln/>
        </p:spPr>
      </p:sp>
      <p:sp>
        <p:nvSpPr>
          <p:cNvPr id="15" name="Text 13"/>
          <p:cNvSpPr/>
          <p:nvPr/>
        </p:nvSpPr>
        <p:spPr>
          <a:xfrm>
            <a:off x="777240" y="5253228"/>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/speckit.clarify</a:t>
            </a:r>
            <a:endParaRPr lang="en-US" sz="1200" dirty="0"/>
          </a:p>
        </p:txBody>
      </p:sp>
      <p:sp>
        <p:nvSpPr>
          <p:cNvPr id="16" name="Text 14"/>
          <p:cNvSpPr/>
          <p:nvPr/>
        </p:nvSpPr>
        <p:spPr>
          <a:xfrm>
            <a:off x="3840480" y="4818888"/>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Asks up to five targeted questions about underspecified areas and encodes your answers back into spec.md. Run it as many times as needed, since one pass often surfaces a follow-up question the first round didn't anticipate.</a:t>
            </a:r>
            <a:endParaRPr lang="en-US" sz="1350" dirty="0"/>
          </a:p>
        </p:txBody>
      </p:sp>
      <p:sp>
        <p:nvSpPr>
          <p:cNvPr id="17" name="Text 15"/>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18" name="Text 16"/>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7293"/>
        </a:solidFill>
      </p:bgPr>
    </p:bg>
    <p:spTree>
      <p:nvGrpSpPr>
        <p:cNvPr id="1" name=""/>
        <p:cNvGrpSpPr/>
        <p:nvPr/>
      </p:nvGrpSpPr>
      <p:grpSpPr>
        <a:xfrm>
          <a:off x="0" y="0"/>
          <a:ext cx="0" cy="0"/>
          <a:chOff x="0" y="0"/>
          <a:chExt cx="0" cy="0"/>
        </a:xfrm>
      </p:grpSpPr>
      <p:sp>
        <p:nvSpPr>
          <p:cNvPr id="2" name="Text 0"/>
          <p:cNvSpPr/>
          <p:nvPr/>
        </p:nvSpPr>
        <p:spPr>
          <a:xfrm>
            <a:off x="548640" y="2468880"/>
            <a:ext cx="11094415" cy="365760"/>
          </a:xfrm>
          <a:prstGeom prst="rect">
            <a:avLst/>
          </a:prstGeom>
          <a:noFill/>
          <a:ln/>
        </p:spPr>
        <p:txBody>
          <a:bodyPr wrap="square" rtlCol="0" anchor="ctr"/>
          <a:lstStyle/>
          <a:p>
            <a:pPr algn="l" indent="0" marL="0">
              <a:buNone/>
            </a:pPr>
            <a:r>
              <a:rPr lang="en-US" sz="1400" b="1" spc="200" kern="0" dirty="0">
                <a:solidFill>
                  <a:srgbClr val="D8E6F5"/>
                </a:solidFill>
                <a:latin typeface="Calibri" pitchFamily="34" charset="0"/>
                <a:ea typeface="Calibri" pitchFamily="34" charset="-122"/>
                <a:cs typeface="Calibri" pitchFamily="34" charset="-120"/>
              </a:rPr>
              <a:t>APPLYING THE CONCEPTS</a:t>
            </a:r>
            <a:endParaRPr lang="en-US" sz="1400" dirty="0"/>
          </a:p>
        </p:txBody>
      </p:sp>
      <p:sp>
        <p:nvSpPr>
          <p:cNvPr id="3" name="Text 1"/>
          <p:cNvSpPr/>
          <p:nvPr/>
        </p:nvSpPr>
        <p:spPr>
          <a:xfrm>
            <a:off x="548640" y="2834640"/>
            <a:ext cx="11094415" cy="1188720"/>
          </a:xfrm>
          <a:prstGeom prst="rect">
            <a:avLst/>
          </a:prstGeom>
          <a:noFill/>
          <a:ln/>
        </p:spPr>
        <p:txBody>
          <a:bodyPr wrap="square" rtlCol="0" anchor="ctr"/>
          <a:lstStyle/>
          <a:p>
            <a:pPr algn="l" indent="0" marL="0">
              <a:buNone/>
            </a:pPr>
            <a:r>
              <a:rPr lang="en-US" sz="4000" b="1" dirty="0">
                <a:solidFill>
                  <a:srgbClr val="FFFFFF"/>
                </a:solidFill>
                <a:latin typeface="Times New Roman" pitchFamily="34" charset="0"/>
                <a:ea typeface="Times New Roman" pitchFamily="34" charset="-122"/>
                <a:cs typeface="Times New Roman" pitchFamily="34" charset="-120"/>
              </a:rPr>
              <a:t>OpenSpec</a:t>
            </a:r>
            <a:endParaRPr lang="en-US" sz="4000" dirty="0"/>
          </a:p>
        </p:txBody>
      </p:sp>
      <p:sp>
        <p:nvSpPr>
          <p:cNvPr id="4" name="Text 2"/>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3</a:t>
            </a:r>
            <a:endParaRPr lang="en-US" sz="1000" dirty="0"/>
          </a:p>
        </p:txBody>
      </p:sp>
      <p:sp>
        <p:nvSpPr>
          <p:cNvPr id="5" name="Text 3"/>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1554480" cy="365760"/>
          </a:xfrm>
          <a:prstGeom prst="roundRect">
            <a:avLst>
              <a:gd name="adj" fmla="val 50000"/>
            </a:avLst>
          </a:prstGeom>
          <a:solidFill>
            <a:srgbClr val="1C7293"/>
          </a:solidFill>
          <a:ln/>
        </p:spPr>
      </p:sp>
      <p:sp>
        <p:nvSpPr>
          <p:cNvPr id="3" name="Text 1"/>
          <p:cNvSpPr/>
          <p:nvPr/>
        </p:nvSpPr>
        <p:spPr>
          <a:xfrm>
            <a:off x="548640" y="457200"/>
            <a:ext cx="155448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OPENSPEC</a:t>
            </a:r>
            <a:endParaRPr lang="en-US" sz="1200" dirty="0"/>
          </a:p>
        </p:txBody>
      </p:sp>
      <p:sp>
        <p:nvSpPr>
          <p:cNvPr id="4" name="Text 2"/>
          <p:cNvSpPr/>
          <p:nvPr/>
        </p:nvSpPr>
        <p:spPr>
          <a:xfrm>
            <a:off x="548640" y="914400"/>
            <a:ext cx="11094415" cy="594360"/>
          </a:xfrm>
          <a:prstGeom prst="rect">
            <a:avLst/>
          </a:prstGeom>
          <a:noFill/>
          <a:ln/>
        </p:spPr>
        <p:txBody>
          <a:bodyPr wrap="square" rtlCol="0" anchor="ctr"/>
          <a:lstStyle/>
          <a:p>
            <a:pPr indent="0" marL="0">
              <a:buNone/>
            </a:pPr>
            <a:r>
              <a:rPr lang="en-US" sz="2500" b="1" dirty="0">
                <a:solidFill>
                  <a:srgbClr val="1B2A4A"/>
                </a:solidFill>
                <a:latin typeface="Times New Roman" pitchFamily="34" charset="0"/>
                <a:ea typeface="Times New Roman" pitchFamily="34" charset="-122"/>
                <a:cs typeface="Times New Roman" pitchFamily="34" charset="-120"/>
              </a:rPr>
              <a:t>Config Files, Deltas, and Explore</a:t>
            </a:r>
            <a:endParaRPr lang="en-US" sz="2500" dirty="0"/>
          </a:p>
        </p:txBody>
      </p:sp>
      <p:sp>
        <p:nvSpPr>
          <p:cNvPr id="5" name="Shape 3"/>
          <p:cNvSpPr/>
          <p:nvPr/>
        </p:nvSpPr>
        <p:spPr>
          <a:xfrm>
            <a:off x="548640" y="1691640"/>
            <a:ext cx="11094415" cy="1417320"/>
          </a:xfrm>
          <a:prstGeom prst="roundRect">
            <a:avLst>
              <a:gd name="adj" fmla="val 5161"/>
            </a:avLst>
          </a:prstGeom>
          <a:solidFill>
            <a:srgbClr val="F2F5F9"/>
          </a:solidFill>
          <a:ln/>
        </p:spPr>
      </p:sp>
      <p:sp>
        <p:nvSpPr>
          <p:cNvPr id="6" name="Text 4"/>
          <p:cNvSpPr/>
          <p:nvPr/>
        </p:nvSpPr>
        <p:spPr>
          <a:xfrm>
            <a:off x="822960" y="1764792"/>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Governance gap: </a:t>
            </a:r>
            <a:pPr indent="0" marL="0">
              <a:buNone/>
            </a:pPr>
            <a:r>
              <a:rPr lang="en-US" sz="1400" dirty="0">
                <a:solidFill>
                  <a:srgbClr val="1B2A4A"/>
                </a:solidFill>
                <a:latin typeface="Calibri" pitchFamily="34" charset="0"/>
                <a:ea typeface="Calibri" pitchFamily="34" charset="-122"/>
                <a:cs typeface="Calibri" pitchFamily="34" charset="-120"/>
              </a:rPr>
              <a:t>No dedicated governance command: project conventions live in openspec/config.yaml rather than a generated document, so governance is configuration you maintain directly instead of an artifact a command produces for you.</a:t>
            </a:r>
            <a:endParaRPr lang="en-US" sz="1400" dirty="0"/>
          </a:p>
        </p:txBody>
      </p:sp>
      <p:sp>
        <p:nvSpPr>
          <p:cNvPr id="7" name="Shape 5"/>
          <p:cNvSpPr/>
          <p:nvPr/>
        </p:nvSpPr>
        <p:spPr>
          <a:xfrm>
            <a:off x="548640" y="3218688"/>
            <a:ext cx="11094415" cy="1417320"/>
          </a:xfrm>
          <a:prstGeom prst="roundRect">
            <a:avLst>
              <a:gd name="adj" fmla="val 5161"/>
            </a:avLst>
          </a:prstGeom>
          <a:solidFill>
            <a:srgbClr val="F2F5F9"/>
          </a:solidFill>
          <a:ln/>
        </p:spPr>
      </p:sp>
      <p:sp>
        <p:nvSpPr>
          <p:cNvPr id="8" name="Shape 6"/>
          <p:cNvSpPr/>
          <p:nvPr/>
        </p:nvSpPr>
        <p:spPr>
          <a:xfrm>
            <a:off x="777240" y="3726180"/>
            <a:ext cx="2834640" cy="402336"/>
          </a:xfrm>
          <a:prstGeom prst="roundRect">
            <a:avLst>
              <a:gd name="adj" fmla="val 13636"/>
            </a:avLst>
          </a:prstGeom>
          <a:solidFill>
            <a:srgbClr val="1B2A4A"/>
          </a:solidFill>
          <a:ln/>
        </p:spPr>
      </p:sp>
      <p:sp>
        <p:nvSpPr>
          <p:cNvPr id="9" name="Text 7"/>
          <p:cNvSpPr/>
          <p:nvPr/>
        </p:nvSpPr>
        <p:spPr>
          <a:xfrm>
            <a:off x="777240" y="3726180"/>
            <a:ext cx="2834640" cy="402336"/>
          </a:xfrm>
          <a:prstGeom prst="rect">
            <a:avLst/>
          </a:prstGeom>
          <a:noFill/>
          <a:ln/>
        </p:spPr>
        <p:txBody>
          <a:bodyPr wrap="square" rtlCol="0" anchor="ctr"/>
          <a:lstStyle/>
          <a:p>
            <a:pPr algn="ctr" indent="0" marL="0">
              <a:buNone/>
            </a:pPr>
            <a:r>
              <a:rPr lang="en-US" sz="1200" dirty="0">
                <a:solidFill>
                  <a:srgbClr val="8FE3C7"/>
                </a:solidFill>
                <a:latin typeface="Courier New" pitchFamily="34" charset="0"/>
                <a:ea typeface="Courier New" pitchFamily="34" charset="-122"/>
                <a:cs typeface="Courier New" pitchFamily="34" charset="-120"/>
              </a:rPr>
              <a:t>/opsx:propose</a:t>
            </a:r>
            <a:endParaRPr lang="en-US" sz="1200" dirty="0"/>
          </a:p>
        </p:txBody>
      </p:sp>
      <p:sp>
        <p:nvSpPr>
          <p:cNvPr id="10" name="Text 8"/>
          <p:cNvSpPr/>
          <p:nvPr/>
        </p:nvSpPr>
        <p:spPr>
          <a:xfrm>
            <a:off x="3840480" y="3291840"/>
            <a:ext cx="7573975" cy="1271016"/>
          </a:xfrm>
          <a:prstGeom prst="rect">
            <a:avLst/>
          </a:prstGeom>
          <a:noFill/>
          <a:ln/>
        </p:spPr>
        <p:txBody>
          <a:bodyPr wrap="square" rtlCol="0" anchor="ctr"/>
          <a:lstStyle/>
          <a:p>
            <a:pPr indent="0" marL="0">
              <a:buNone/>
            </a:pPr>
            <a:r>
              <a:rPr lang="en-US" sz="1350" dirty="0">
                <a:solidFill>
                  <a:srgbClr val="1B2A4A"/>
                </a:solidFill>
                <a:latin typeface="Calibri" pitchFamily="34" charset="0"/>
                <a:ea typeface="Calibri" pitchFamily="34" charset="-122"/>
                <a:cs typeface="Calibri" pitchFamily="34" charset="-120"/>
              </a:rPr>
              <a:t>Generates proposal.md plus delta specs/ marking ADDED, MODIFIED, REMOVED requirements, each with Given/When/Then scenarios: OpenSpec's equivalent of testable acceptance criteria, playing the same role EARS statements play in Spec Kit.</a:t>
            </a:r>
            <a:endParaRPr lang="en-US" sz="1350" dirty="0"/>
          </a:p>
        </p:txBody>
      </p:sp>
      <p:sp>
        <p:nvSpPr>
          <p:cNvPr id="11" name="Shape 9"/>
          <p:cNvSpPr/>
          <p:nvPr/>
        </p:nvSpPr>
        <p:spPr>
          <a:xfrm>
            <a:off x="548640" y="4745736"/>
            <a:ext cx="11094415" cy="1417320"/>
          </a:xfrm>
          <a:prstGeom prst="roundRect">
            <a:avLst>
              <a:gd name="adj" fmla="val 5161"/>
            </a:avLst>
          </a:prstGeom>
          <a:solidFill>
            <a:srgbClr val="F2F5F9"/>
          </a:solidFill>
          <a:ln/>
        </p:spPr>
      </p:sp>
      <p:sp>
        <p:nvSpPr>
          <p:cNvPr id="12" name="Text 10"/>
          <p:cNvSpPr/>
          <p:nvPr/>
        </p:nvSpPr>
        <p:spPr>
          <a:xfrm>
            <a:off x="822960" y="4818888"/>
            <a:ext cx="10545775" cy="1271016"/>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Clarify gap: </a:t>
            </a:r>
            <a:pPr indent="0" marL="0">
              <a:buNone/>
            </a:pPr>
            <a:r>
              <a:rPr lang="en-US" sz="1400" dirty="0">
                <a:solidFill>
                  <a:srgbClr val="1B2A4A"/>
                </a:solidFill>
                <a:latin typeface="Calibri" pitchFamily="34" charset="0"/>
                <a:ea typeface="Calibri" pitchFamily="34" charset="-122"/>
                <a:cs typeface="Calibri" pitchFamily="34" charset="-120"/>
              </a:rPr>
              <a:t>No single dedicated clarify command: ambiguity gets sharpened beforehand with /opsx:explore, or reconciled afterward with /opsx:update, so the clarify step is distributed across the workflow rather than being one named command.</a:t>
            </a:r>
            <a:endParaRPr lang="en-US" sz="1400" dirty="0"/>
          </a:p>
        </p:txBody>
      </p:sp>
      <p:sp>
        <p:nvSpPr>
          <p:cNvPr id="13" name="Text 1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14" name="Text 1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094415" cy="594360"/>
          </a:xfrm>
          <a:prstGeom prst="rect">
            <a:avLst/>
          </a:prstGeom>
          <a:noFill/>
          <a:ln/>
        </p:spPr>
        <p:txBody>
          <a:bodyPr wrap="square" rtlCol="0" anchor="ctr"/>
          <a:lstStyle/>
          <a:p>
            <a:pPr indent="0" marL="0">
              <a:buNone/>
            </a:pPr>
            <a:r>
              <a:rPr lang="en-US" sz="2600" b="1" dirty="0">
                <a:solidFill>
                  <a:srgbClr val="1B2A4A"/>
                </a:solidFill>
                <a:latin typeface="Times New Roman" pitchFamily="34" charset="0"/>
                <a:ea typeface="Times New Roman" pitchFamily="34" charset="-122"/>
                <a:cs typeface="Times New Roman" pitchFamily="34" charset="-120"/>
              </a:rPr>
              <a:t>Module 3 at a Glance</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743200"/>
                <a:gridCol w="4175608"/>
                <a:gridCol w="4175608"/>
              </a:tblGrid>
              <a:tr h="914400">
                <a:tc>
                  <a:txBody>
                    <a:bodyPr/>
                    <a:lstStyle/>
                    <a:p>
                      <a:pP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B2A4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GitHub Spec Kit</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2E74B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OpenSpec</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1C7293"/>
                    </a:solidFill>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Governance</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/speckit.constitution (dedicated command)</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openspec/config.yaml (no generated document)</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Spec writing</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/speckit.specify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/opsx:propose (delta specs, Given/When/Then)</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r h="914400">
                <a:tc>
                  <a:txBody>
                    <a:bodyPr/>
                    <a:lstStyle/>
                    <a:p>
                      <a:pPr indent="0" marL="0">
                        <a:buNone/>
                      </a:pPr>
                      <a:r>
                        <a:rPr lang="en-US" sz="1300" b="1" dirty="0">
                          <a:solidFill>
                            <a:srgbClr val="1B2A4A"/>
                          </a:solidFill>
                          <a:latin typeface="Calibri" pitchFamily="34" charset="0"/>
                          <a:ea typeface="Calibri" pitchFamily="34" charset="-122"/>
                          <a:cs typeface="Calibri" pitchFamily="34" charset="-120"/>
                        </a:rPr>
                        <a:t>Clarify</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solidFill>
                      <a:srgbClr val="F2F5F9"/>
                    </a:solidFill>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/speckit.clarify (dedicated command)</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c>
                  <a:txBody>
                    <a:bodyPr/>
                    <a:lstStyle/>
                    <a:p>
                      <a:pPr indent="0" marL="0">
                        <a:buNone/>
                      </a:pPr>
                      <a:r>
                        <a:rPr lang="en-US" sz="1300" dirty="0">
                          <a:solidFill>
                            <a:srgbClr val="1B2A4A"/>
                          </a:solidFill>
                          <a:latin typeface="Calibri" pitchFamily="34" charset="0"/>
                          <a:ea typeface="Calibri" pitchFamily="34" charset="-122"/>
                          <a:cs typeface="Calibri" pitchFamily="34" charset="-120"/>
                        </a:rPr>
                        <a:t>/opsx:explore before, /opsx:update after</a:t>
                      </a:r>
                      <a:endParaRPr lang="en-US" sz="1300" dirty="0">
                        <a:latin typeface="Calibri" charset="0"/>
                        <a:ea typeface="Calibri" charset="0"/>
                        <a:cs typeface="Calibri" charset="0"/>
                      </a:endParaRPr>
                    </a:p>
                  </a:txBody>
                  <a:tcPr marL="91440" marR="91440" marT="45720" marB="45720" anchor="ctr">
                    <a:lnL w="12700" cap="flat" cmpd="sng" algn="ctr">
                      <a:solidFill>
                        <a:srgbClr val="D9E1EC"/>
                      </a:solidFill>
                      <a:prstDash val="solid"/>
                      <a:round/>
                      <a:headEnd type="none" w="med" len="med"/>
                      <a:tailEnd type="none" w="med" len="med"/>
                    </a:lnL>
                    <a:lnR w="12700" cap="flat" cmpd="sng" algn="ctr">
                      <a:solidFill>
                        <a:srgbClr val="D9E1EC"/>
                      </a:solidFill>
                      <a:prstDash val="solid"/>
                      <a:round/>
                      <a:headEnd type="none" w="med" len="med"/>
                      <a:tailEnd type="none" w="med" len="med"/>
                    </a:lnR>
                    <a:lnT w="12700" cap="flat" cmpd="sng" algn="ctr">
                      <a:solidFill>
                        <a:srgbClr val="D9E1EC"/>
                      </a:solidFill>
                      <a:prstDash val="solid"/>
                      <a:round/>
                      <a:headEnd type="none" w="med" len="med"/>
                      <a:tailEnd type="none" w="med" len="med"/>
                    </a:lnT>
                    <a:lnB w="12700" cap="flat" cmpd="sng" algn="ctr">
                      <a:solidFill>
                        <a:srgbClr val="D9E1EC"/>
                      </a:solidFill>
                      <a:prstDash val="solid"/>
                      <a:round/>
                      <a:headEnd type="none" w="med" len="med"/>
                      <a:tailEnd type="none" w="med" len="med"/>
                    </a:lnB>
                  </a:tcPr>
                </a:tc>
              </a:tr>
            </a:tbl>
          </a:graphicData>
        </a:graphic>
      </p:graphicFrame>
      <p:sp>
        <p:nvSpPr>
          <p:cNvPr id="4" name="Text 1"/>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5A6B85"/>
                </a:solidFill>
                <a:latin typeface="Calibri" pitchFamily="34" charset="0"/>
                <a:ea typeface="Calibri" pitchFamily="34" charset="-122"/>
                <a:cs typeface="Calibri" pitchFamily="34" charset="-120"/>
              </a:rPr>
              <a:t>Module 3</a:t>
            </a:r>
            <a:endParaRPr lang="en-US" sz="1000" dirty="0"/>
          </a:p>
        </p:txBody>
      </p:sp>
      <p:sp>
        <p:nvSpPr>
          <p:cNvPr id="5" name="Text 2"/>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5A6B85"/>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5A6B85"/>
                </a:solidFill>
                <a:latin typeface="Calibri"/>
                <a:ea typeface="Calibri"/>
                <a:cs typeface="Calibri"/>
              </a:defRPr>
            </a:lvl1pPr>
          </a:lstStyle>
          <a:p>
            <a:pPr algn="ct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548640"/>
            <a:ext cx="11094415" cy="640080"/>
          </a:xfrm>
          <a:prstGeom prst="rect">
            <a:avLst/>
          </a:prstGeom>
          <a:noFill/>
          <a:ln/>
        </p:spPr>
        <p:txBody>
          <a:bodyPr wrap="square" rtlCol="0" anchor="ctr"/>
          <a:lstStyle/>
          <a:p>
            <a:pPr indent="0" marL="0">
              <a:buNone/>
            </a:pPr>
            <a:r>
              <a:rPr lang="en-US" sz="3000" b="1" dirty="0">
                <a:solidFill>
                  <a:srgbClr val="FFFFFF"/>
                </a:solidFill>
                <a:latin typeface="Times New Roman" pitchFamily="34" charset="0"/>
                <a:ea typeface="Times New Roman" pitchFamily="34" charset="-122"/>
                <a:cs typeface="Times New Roman" pitchFamily="34" charset="-120"/>
              </a:rPr>
              <a:t>Key Takeaways</a:t>
            </a:r>
            <a:endParaRPr lang="en-US" sz="3000" dirty="0"/>
          </a:p>
        </p:txBody>
      </p:sp>
      <p:sp>
        <p:nvSpPr>
          <p:cNvPr id="3" name="Shape 1"/>
          <p:cNvSpPr/>
          <p:nvPr/>
        </p:nvSpPr>
        <p:spPr>
          <a:xfrm>
            <a:off x="548640" y="1627632"/>
            <a:ext cx="128016" cy="128016"/>
          </a:xfrm>
          <a:prstGeom prst="ellipse">
            <a:avLst/>
          </a:prstGeom>
          <a:solidFill>
            <a:srgbClr val="C0504D"/>
          </a:solidFill>
          <a:ln/>
        </p:spPr>
      </p:sp>
      <p:sp>
        <p:nvSpPr>
          <p:cNvPr id="4" name="Text 2"/>
          <p:cNvSpPr/>
          <p:nvPr/>
        </p:nvSpPr>
        <p:spPr>
          <a:xfrm>
            <a:off x="914400" y="14173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Governance has to exist before code is judged against it, otherwise every review starts from a different, unstated standard.</a:t>
            </a:r>
            <a:endParaRPr lang="en-US" sz="1700" dirty="0"/>
          </a:p>
        </p:txBody>
      </p:sp>
      <p:sp>
        <p:nvSpPr>
          <p:cNvPr id="5" name="Shape 3"/>
          <p:cNvSpPr/>
          <p:nvPr/>
        </p:nvSpPr>
        <p:spPr>
          <a:xfrm>
            <a:off x="548640" y="2999232"/>
            <a:ext cx="128016" cy="128016"/>
          </a:xfrm>
          <a:prstGeom prst="ellipse">
            <a:avLst/>
          </a:prstGeom>
          <a:solidFill>
            <a:srgbClr val="C0504D"/>
          </a:solidFill>
          <a:ln/>
        </p:spPr>
      </p:sp>
      <p:sp>
        <p:nvSpPr>
          <p:cNvPr id="6" name="Text 4"/>
          <p:cNvSpPr/>
          <p:nvPr/>
        </p:nvSpPr>
        <p:spPr>
          <a:xfrm>
            <a:off x="914400" y="27889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EARS keeps requirements testable regardless of which framework carries them, since the format itself, not the tool, is what makes a requirement checkable.</a:t>
            </a:r>
            <a:endParaRPr lang="en-US" sz="1700" dirty="0"/>
          </a:p>
        </p:txBody>
      </p:sp>
      <p:sp>
        <p:nvSpPr>
          <p:cNvPr id="7" name="Shape 5"/>
          <p:cNvSpPr/>
          <p:nvPr/>
        </p:nvSpPr>
        <p:spPr>
          <a:xfrm>
            <a:off x="548640" y="4370832"/>
            <a:ext cx="128016" cy="128016"/>
          </a:xfrm>
          <a:prstGeom prst="ellipse">
            <a:avLst/>
          </a:prstGeom>
          <a:solidFill>
            <a:srgbClr val="C0504D"/>
          </a:solidFill>
          <a:ln/>
        </p:spPr>
      </p:sp>
      <p:sp>
        <p:nvSpPr>
          <p:cNvPr id="8" name="Text 6"/>
          <p:cNvSpPr/>
          <p:nvPr/>
        </p:nvSpPr>
        <p:spPr>
          <a:xfrm>
            <a:off x="914400" y="4160520"/>
            <a:ext cx="10728655" cy="1280160"/>
          </a:xfrm>
          <a:prstGeom prst="rect">
            <a:avLst/>
          </a:prstGeom>
          <a:noFill/>
          <a:ln/>
        </p:spPr>
        <p:txBody>
          <a:bodyPr wrap="square" rtlCol="0" anchor="t"/>
          <a:lstStyle/>
          <a:p>
            <a:pPr indent="0" marL="0">
              <a:buNone/>
            </a:pPr>
            <a:r>
              <a:rPr lang="en-US" sz="1700" dirty="0">
                <a:solidFill>
                  <a:srgbClr val="E4ECFA"/>
                </a:solidFill>
                <a:latin typeface="Calibri" pitchFamily="34" charset="0"/>
                <a:ea typeface="Calibri" pitchFamily="34" charset="-122"/>
                <a:cs typeface="Calibri" pitchFamily="34" charset="-120"/>
              </a:rPr>
              <a:t>Clarify early: it's cheap now and expensive once a plan is built on top of ambiguity that nobody caught in time.</a:t>
            </a:r>
            <a:endParaRPr lang="en-US" sz="1700" dirty="0"/>
          </a:p>
        </p:txBody>
      </p:sp>
      <p:sp>
        <p:nvSpPr>
          <p:cNvPr id="9" name="Text 7"/>
          <p:cNvSpPr/>
          <p:nvPr/>
        </p:nvSpPr>
        <p:spPr>
          <a:xfrm>
            <a:off x="548640" y="6473952"/>
            <a:ext cx="5486400" cy="274320"/>
          </a:xfrm>
          <a:prstGeom prst="rect">
            <a:avLst/>
          </a:prstGeom>
          <a:noFill/>
          <a:ln/>
        </p:spPr>
        <p:txBody>
          <a:bodyPr wrap="square" rtlCol="0" anchor="ctr"/>
          <a:lstStyle/>
          <a:p>
            <a:pPr algn="l" indent="0" marL="0">
              <a:buNone/>
            </a:pPr>
            <a:r>
              <a:rPr lang="en-US" sz="1000" dirty="0">
                <a:solidFill>
                  <a:srgbClr val="8CA3C7"/>
                </a:solidFill>
                <a:latin typeface="Calibri" pitchFamily="34" charset="0"/>
                <a:ea typeface="Calibri" pitchFamily="34" charset="-122"/>
                <a:cs typeface="Calibri" pitchFamily="34" charset="-120"/>
              </a:rPr>
              <a:t>Module 3</a:t>
            </a:r>
            <a:endParaRPr lang="en-US" sz="1000" dirty="0"/>
          </a:p>
        </p:txBody>
      </p:sp>
      <p:sp>
        <p:nvSpPr>
          <p:cNvPr id="10" name="Text 8"/>
          <p:cNvSpPr/>
          <p:nvPr/>
        </p:nvSpPr>
        <p:spPr>
          <a:xfrm>
            <a:off x="6156655" y="6473952"/>
            <a:ext cx="5486400" cy="274320"/>
          </a:xfrm>
          <a:prstGeom prst="rect">
            <a:avLst/>
          </a:prstGeom>
          <a:noFill/>
          <a:ln/>
        </p:spPr>
        <p:txBody>
          <a:bodyPr wrap="square" rtlCol="0" anchor="ctr"/>
          <a:lstStyle/>
          <a:p>
            <a:pPr algn="r" indent="0" marL="0">
              <a:buNone/>
            </a:pPr>
            <a:r>
              <a:rPr lang="en-US" sz="1000" dirty="0">
                <a:solidFill>
                  <a:srgbClr val="8CA3C7"/>
                </a:solidFill>
                <a:latin typeface="Calibri" pitchFamily="34" charset="0"/>
                <a:ea typeface="Calibri" pitchFamily="34" charset="-122"/>
                <a:cs typeface="Calibri" pitchFamily="34" charset="-120"/>
              </a:rPr>
              <a:t>Spec-Driven Development with Agentic AI</a:t>
            </a:r>
            <a:endParaRPr lang="en-US" sz="1000" dirty="0"/>
          </a:p>
        </p:txBody>
      </p:sp>
      <p:sp>
        <p:nvSpPr>
          <p:cNvPr id="25" name="Slide Number Placeholder 0"/>
          <p:cNvSpPr>
            <a:spLocks noGrp="1"/>
          </p:cNvSpPr>
          <p:nvPr>
            <p:ph type="sldNum" sz="quarter" idx="4294967295"/>
          </p:nvPr>
        </p:nvSpPr>
        <p:spPr>
          <a:xfrm>
            <a:off x="5821528" y="6473952"/>
            <a:ext cx="548640" cy="274320"/>
          </a:xfrm>
          <a:prstGeom prst="rect">
            <a:avLst/>
          </a:prstGeom>
          <a:extLst>
            <a:ext uri="{C572A759-6A51-4108-AA02-DFA0A04FC94B}">
              <ma14:wrappingTextBoxFlag xmlns:ma14="http://schemas.microsoft.com/office/mac/drawingml/2011/main" val="0"/>
            </a:ext>
          </a:extLst>
        </p:spPr>
        <p:txBody>
          <a:bodyPr anchor="ctr"/>
          <a:lstStyle>
            <a:lvl1pPr>
              <a:defRPr sz="1000">
                <a:solidFill>
                  <a:srgbClr val="8CA3C7"/>
                </a:solidFill>
                <a:latin typeface="Calibri"/>
                <a:ea typeface="Calibri"/>
                <a:cs typeface="Calibri"/>
              </a:defRPr>
            </a:lvl1pPr>
          </a:lstStyle>
          <a:p>
            <a:pPr algn="ct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2026-08-15T17:56:13Z</dcterms:created>
  <dcterms:modified xsi:type="dcterms:W3CDTF">2026-08-15T17:56:13Z</dcterms:modified>
</cp:coreProperties>
</file>