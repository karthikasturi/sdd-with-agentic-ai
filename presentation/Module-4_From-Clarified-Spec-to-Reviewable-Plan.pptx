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548640" y="640080"/>
            <a:ext cx="2377440" cy="457200"/>
          </a:xfrm>
          <a:prstGeom prst="roundRect">
            <a:avLst>
              <a:gd name="adj" fmla="val 50000"/>
            </a:avLst>
          </a:prstGeom>
          <a:solidFill>
            <a:srgbClr val="C0504D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64008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1371600"/>
            <a:ext cx="1109441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9FB3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4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48640" y="1828800"/>
            <a:ext cx="11094415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From Clarified Spec to Reviewable Plan</a:t>
            </a:r>
            <a:endParaRPr lang="en-US" sz="4400" dirty="0"/>
          </a:p>
        </p:txBody>
      </p:sp>
      <p:sp>
        <p:nvSpPr>
          <p:cNvPr id="7" name="Shape 5"/>
          <p:cNvSpPr/>
          <p:nvPr/>
        </p:nvSpPr>
        <p:spPr>
          <a:xfrm>
            <a:off x="548640" y="4206240"/>
            <a:ext cx="2011680" cy="0"/>
          </a:xfrm>
          <a:prstGeom prst="line">
            <a:avLst/>
          </a:prstGeom>
          <a:noFill/>
          <a:ln w="38100">
            <a:solidFill>
              <a:srgbClr val="C0504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4434840"/>
            <a:ext cx="10180015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 a what-and-why spec into a reviewable how, before any code changes.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109441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2A4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You'll Learn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554480"/>
            <a:ext cx="502920" cy="502920"/>
          </a:xfrm>
          <a:prstGeom prst="ellipse">
            <a:avLst/>
          </a:prstGeom>
          <a:solidFill>
            <a:srgbClr val="2E74B5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55448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1325880" y="1508760"/>
            <a:ext cx="1031717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Translate a clarified spec into a technical plan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48640" y="2514600"/>
            <a:ext cx="502920" cy="502920"/>
          </a:xfrm>
          <a:prstGeom prst="ellipse">
            <a:avLst/>
          </a:prstGeom>
          <a:solidFill>
            <a:srgbClr val="C0504D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2514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325880" y="2468880"/>
            <a:ext cx="1031717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a plan/preview mode to review before any files change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48640" y="3474720"/>
            <a:ext cx="502920" cy="502920"/>
          </a:xfrm>
          <a:prstGeom prst="ellipse">
            <a:avLst/>
          </a:prstGeom>
          <a:solidFill>
            <a:srgbClr val="2E74B5"/>
          </a:solidFill>
          <a:ln/>
        </p:spPr>
      </p:sp>
      <p:sp>
        <p:nvSpPr>
          <p:cNvPr id="10" name="Text 8"/>
          <p:cNvSpPr/>
          <p:nvPr/>
        </p:nvSpPr>
        <p:spPr>
          <a:xfrm>
            <a:off x="548640" y="347472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1325880" y="3429000"/>
            <a:ext cx="1031717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Decompose a plan into small, independently verifiable tasks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4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156655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Spec-Driven Development with Agentic AI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441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C050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SPEC TO PLAN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9441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2A4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Where Implementation Detail Belongs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11094415" cy="2304288"/>
          </a:xfrm>
          <a:prstGeom prst="roundRect">
            <a:avLst>
              <a:gd name="adj" fmla="val 3175"/>
            </a:avLst>
          </a:prstGeom>
          <a:solidFill>
            <a:srgbClr val="F2F5F9"/>
          </a:solidFill>
          <a:ln/>
        </p:spPr>
      </p:sp>
      <p:sp>
        <p:nvSpPr>
          <p:cNvPr id="5" name="Shape 3"/>
          <p:cNvSpPr/>
          <p:nvPr/>
        </p:nvSpPr>
        <p:spPr>
          <a:xfrm>
            <a:off x="548640" y="1600200"/>
            <a:ext cx="73152" cy="2304288"/>
          </a:xfrm>
          <a:prstGeom prst="rect">
            <a:avLst/>
          </a:prstGeom>
          <a:solidFill>
            <a:srgbClr val="2E74B5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1673352"/>
            <a:ext cx="10545775" cy="21579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plan is where architecture choices, constraints, and non-functional requirements belong.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4069080"/>
            <a:ext cx="11094415" cy="2304288"/>
          </a:xfrm>
          <a:prstGeom prst="roundRect">
            <a:avLst>
              <a:gd name="adj" fmla="val 3175"/>
            </a:avLst>
          </a:prstGeom>
          <a:solidFill>
            <a:srgbClr val="F2F5F9"/>
          </a:solidFill>
          <a:ln/>
        </p:spPr>
      </p:sp>
      <p:sp>
        <p:nvSpPr>
          <p:cNvPr id="8" name="Shape 6"/>
          <p:cNvSpPr/>
          <p:nvPr/>
        </p:nvSpPr>
        <p:spPr>
          <a:xfrm>
            <a:off x="548640" y="4069080"/>
            <a:ext cx="73152" cy="2304288"/>
          </a:xfrm>
          <a:prstGeom prst="rect">
            <a:avLst/>
          </a:prstGeom>
          <a:solidFill>
            <a:srgbClr val="C0504D"/>
          </a:solidFill>
          <a:ln/>
        </p:spPr>
      </p:sp>
      <p:sp>
        <p:nvSpPr>
          <p:cNvPr id="9" name="Text 7"/>
          <p:cNvSpPr/>
          <p:nvPr/>
        </p:nvSpPr>
        <p:spPr>
          <a:xfrm>
            <a:off x="822960" y="4142232"/>
            <a:ext cx="10545775" cy="21579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It's the bridge between what and why (the spec) and how (the code).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4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156655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Spec-Driven Development with Agentic AI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441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C050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BEFORE CODE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9441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2A4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Plan/Preview Mode and Task Decomposition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11094415" cy="1481328"/>
          </a:xfrm>
          <a:prstGeom prst="roundRect">
            <a:avLst>
              <a:gd name="adj" fmla="val 4938"/>
            </a:avLst>
          </a:prstGeom>
          <a:solidFill>
            <a:srgbClr val="F2F5F9"/>
          </a:solidFill>
          <a:ln/>
        </p:spPr>
      </p:sp>
      <p:sp>
        <p:nvSpPr>
          <p:cNvPr id="5" name="Shape 3"/>
          <p:cNvSpPr/>
          <p:nvPr/>
        </p:nvSpPr>
        <p:spPr>
          <a:xfrm>
            <a:off x="548640" y="1600200"/>
            <a:ext cx="73152" cy="1481328"/>
          </a:xfrm>
          <a:prstGeom prst="rect">
            <a:avLst/>
          </a:prstGeom>
          <a:solidFill>
            <a:srgbClr val="2E74B5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1673352"/>
            <a:ext cx="10545775" cy="1335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reviewable plan is produced before any file changes are made: a deliberate checkpoint.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3246120"/>
            <a:ext cx="11094415" cy="1481328"/>
          </a:xfrm>
          <a:prstGeom prst="roundRect">
            <a:avLst>
              <a:gd name="adj" fmla="val 4938"/>
            </a:avLst>
          </a:prstGeom>
          <a:solidFill>
            <a:srgbClr val="F2F5F9"/>
          </a:solidFill>
          <a:ln/>
        </p:spPr>
      </p:sp>
      <p:sp>
        <p:nvSpPr>
          <p:cNvPr id="8" name="Shape 6"/>
          <p:cNvSpPr/>
          <p:nvPr/>
        </p:nvSpPr>
        <p:spPr>
          <a:xfrm>
            <a:off x="548640" y="3246120"/>
            <a:ext cx="73152" cy="1481328"/>
          </a:xfrm>
          <a:prstGeom prst="rect">
            <a:avLst/>
          </a:prstGeom>
          <a:solidFill>
            <a:srgbClr val="C0504D"/>
          </a:solidFill>
          <a:ln/>
        </p:spPr>
      </p:sp>
      <p:sp>
        <p:nvSpPr>
          <p:cNvPr id="9" name="Text 7"/>
          <p:cNvSpPr/>
          <p:nvPr/>
        </p:nvSpPr>
        <p:spPr>
          <a:xfrm>
            <a:off x="822960" y="3319272"/>
            <a:ext cx="10545775" cy="1335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team reviews and edits the plan, including disagreeing with an architecture or scope decision, before an agent touches code.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48640" y="4892040"/>
            <a:ext cx="11094415" cy="1481328"/>
          </a:xfrm>
          <a:prstGeom prst="roundRect">
            <a:avLst>
              <a:gd name="adj" fmla="val 4938"/>
            </a:avLst>
          </a:prstGeom>
          <a:solidFill>
            <a:srgbClr val="F2F5F9"/>
          </a:solidFill>
          <a:ln/>
        </p:spPr>
      </p:sp>
      <p:sp>
        <p:nvSpPr>
          <p:cNvPr id="11" name="Shape 9"/>
          <p:cNvSpPr/>
          <p:nvPr/>
        </p:nvSpPr>
        <p:spPr>
          <a:xfrm>
            <a:off x="548640" y="4892040"/>
            <a:ext cx="73152" cy="1481328"/>
          </a:xfrm>
          <a:prstGeom prst="rect">
            <a:avLst/>
          </a:prstGeom>
          <a:solidFill>
            <a:srgbClr val="2E74B5"/>
          </a:solidFill>
          <a:ln/>
        </p:spPr>
      </p:sp>
      <p:sp>
        <p:nvSpPr>
          <p:cNvPr id="12" name="Text 10"/>
          <p:cNvSpPr/>
          <p:nvPr/>
        </p:nvSpPr>
        <p:spPr>
          <a:xfrm>
            <a:off x="822960" y="4965192"/>
            <a:ext cx="10545775" cy="1335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 the approved plan into small, independently verifiable, agent-executable tasks. Each task should map back to a specific requirement.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4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6156655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Spec-Driven Development with Agentic AI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0080"/>
            <a:ext cx="1109441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9FB3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1051560"/>
            <a:ext cx="10180015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plan you didn't review is a decision you already made.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3017520"/>
            <a:ext cx="11094415" cy="713232"/>
          </a:xfrm>
          <a:prstGeom prst="roundRect">
            <a:avLst>
              <a:gd name="adj" fmla="val 10256"/>
            </a:avLst>
          </a:prstGeom>
          <a:solidFill>
            <a:srgbClr val="233A63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3017520"/>
            <a:ext cx="10545775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4EC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architecture and scope choice in the plan becomes real the moment implement runs.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48640" y="3886200"/>
            <a:ext cx="11094415" cy="713232"/>
          </a:xfrm>
          <a:prstGeom prst="roundRect">
            <a:avLst>
              <a:gd name="adj" fmla="val 10256"/>
            </a:avLst>
          </a:prstGeom>
          <a:solidFill>
            <a:srgbClr val="233A63"/>
          </a:solidFill>
          <a:ln/>
        </p:spPr>
      </p:sp>
      <p:sp>
        <p:nvSpPr>
          <p:cNvPr id="7" name="Text 5"/>
          <p:cNvSpPr/>
          <p:nvPr/>
        </p:nvSpPr>
        <p:spPr>
          <a:xfrm>
            <a:off x="822960" y="3886200"/>
            <a:ext cx="10545775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4EC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Catching a disagreement here costs a conversation. Catching it after implementation costs a rewrite.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CA3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4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156655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A3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Spec-Driven Development with Agentic AI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2E74B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468880"/>
            <a:ext cx="110944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rgbClr val="D8E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APPLYING THIS WITH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2834640"/>
            <a:ext cx="11094415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GitHub Spec Kit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CA3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4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156655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A3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Spec-Driven Development with Agentic AI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554480" cy="365760"/>
          </a:xfrm>
          <a:prstGeom prst="roundRect">
            <a:avLst>
              <a:gd name="adj" fmla="val 50000"/>
            </a:avLst>
          </a:prstGeom>
          <a:solidFill>
            <a:srgbClr val="2E74B5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 KIT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914400"/>
            <a:ext cx="11094415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2A4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Plan, Then Tasks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548640" y="1691640"/>
            <a:ext cx="11094415" cy="1417320"/>
          </a:xfrm>
          <a:prstGeom prst="roundRect">
            <a:avLst>
              <a:gd name="adj" fmla="val 5161"/>
            </a:avLst>
          </a:prstGeom>
          <a:solidFill>
            <a:srgbClr val="F2F5F9"/>
          </a:solidFill>
          <a:ln/>
        </p:spPr>
      </p:sp>
      <p:sp>
        <p:nvSpPr>
          <p:cNvPr id="6" name="Shape 4"/>
          <p:cNvSpPr/>
          <p:nvPr/>
        </p:nvSpPr>
        <p:spPr>
          <a:xfrm>
            <a:off x="777240" y="2199132"/>
            <a:ext cx="2834640" cy="402336"/>
          </a:xfrm>
          <a:prstGeom prst="roundRect">
            <a:avLst>
              <a:gd name="adj" fmla="val 13636"/>
            </a:avLst>
          </a:prstGeom>
          <a:solidFill>
            <a:srgbClr val="1B2A4A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2199132"/>
            <a:ext cx="2834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FE3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/speckit.plan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3840480" y="1764792"/>
            <a:ext cx="7573975" cy="12710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Generates design artifacts from the spec, given tech stack, architecture, and constraints as arguments.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48640" y="3218688"/>
            <a:ext cx="11094415" cy="1417320"/>
          </a:xfrm>
          <a:prstGeom prst="roundRect">
            <a:avLst>
              <a:gd name="adj" fmla="val 5161"/>
            </a:avLst>
          </a:prstGeom>
          <a:solidFill>
            <a:srgbClr val="F2F5F9"/>
          </a:solidFill>
          <a:ln/>
        </p:spPr>
      </p:sp>
      <p:sp>
        <p:nvSpPr>
          <p:cNvPr id="10" name="Shape 8"/>
          <p:cNvSpPr/>
          <p:nvPr/>
        </p:nvSpPr>
        <p:spPr>
          <a:xfrm>
            <a:off x="777240" y="3726180"/>
            <a:ext cx="2834640" cy="402336"/>
          </a:xfrm>
          <a:prstGeom prst="roundRect">
            <a:avLst>
              <a:gd name="adj" fmla="val 13636"/>
            </a:avLst>
          </a:prstGeom>
          <a:solidFill>
            <a:srgbClr val="1B2A4A"/>
          </a:solidFill>
          <a:ln/>
        </p:spPr>
      </p:sp>
      <p:sp>
        <p:nvSpPr>
          <p:cNvPr id="11" name="Text 9"/>
          <p:cNvSpPr/>
          <p:nvPr/>
        </p:nvSpPr>
        <p:spPr>
          <a:xfrm>
            <a:off x="777240" y="3726180"/>
            <a:ext cx="2834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FE3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/speckit.tasks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3840480" y="3291840"/>
            <a:ext cx="7573975" cy="12710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Generates a dependency-ordered tasks.md: Setup, Foundational, one phase per user story, and a final Polish phase. Tasks are marked for parallel execution where possible.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4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6156655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Spec-Driven Development with Agentic AI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C72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468880"/>
            <a:ext cx="110944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rgbClr val="D8E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APPLYING THIS WITH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2834640"/>
            <a:ext cx="11094415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OpenSpec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CA3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4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156655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A3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Spec-Driven Development with Agentic AI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554480" cy="365760"/>
          </a:xfrm>
          <a:prstGeom prst="roundRect">
            <a:avLst>
              <a:gd name="adj" fmla="val 50000"/>
            </a:avLst>
          </a:prstGeom>
          <a:solidFill>
            <a:srgbClr val="1C7293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OPENSPEC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914400"/>
            <a:ext cx="11094415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2A4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Design and Tasks, Together or Staged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548640" y="1691640"/>
            <a:ext cx="11094415" cy="1417320"/>
          </a:xfrm>
          <a:prstGeom prst="roundRect">
            <a:avLst>
              <a:gd name="adj" fmla="val 5161"/>
            </a:avLst>
          </a:prstGeom>
          <a:solidFill>
            <a:srgbClr val="F2F5F9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1764792"/>
            <a:ext cx="10545775" cy="12710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plan: </a:t>
            </a:r>
            <a:pPr indent="0" marL="0">
              <a:buNone/>
            </a:pPr>
            <a:r>
              <a:rPr lang="en-US" sz="14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design.md is the plan equivalent, "the how: technical approach and architecture decisions," generated alongside the proposal.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48640" y="3218688"/>
            <a:ext cx="11094415" cy="1417320"/>
          </a:xfrm>
          <a:prstGeom prst="roundRect">
            <a:avLst>
              <a:gd name="adj" fmla="val 5161"/>
            </a:avLst>
          </a:prstGeom>
          <a:solidFill>
            <a:srgbClr val="F2F5F9"/>
          </a:solidFill>
          <a:ln/>
        </p:spPr>
      </p:sp>
      <p:sp>
        <p:nvSpPr>
          <p:cNvPr id="8" name="Text 6"/>
          <p:cNvSpPr/>
          <p:nvPr/>
        </p:nvSpPr>
        <p:spPr>
          <a:xfrm>
            <a:off x="822960" y="3291840"/>
            <a:ext cx="10545775" cy="12710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tasks: </a:t>
            </a:r>
            <a:pPr indent="0" marL="0">
              <a:buNone/>
            </a:pPr>
            <a:r>
              <a:rPr lang="en-US" sz="14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tasks.md, an implementation checklist with checkboxes, is generated in the same step by default.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48640" y="4745736"/>
            <a:ext cx="11094415" cy="1417320"/>
          </a:xfrm>
          <a:prstGeom prst="roundRect">
            <a:avLst>
              <a:gd name="adj" fmla="val 5161"/>
            </a:avLst>
          </a:prstGeom>
          <a:solidFill>
            <a:srgbClr val="F2F5F9"/>
          </a:solidFill>
          <a:ln/>
        </p:spPr>
      </p:sp>
      <p:sp>
        <p:nvSpPr>
          <p:cNvPr id="10" name="Shape 8"/>
          <p:cNvSpPr/>
          <p:nvPr/>
        </p:nvSpPr>
        <p:spPr>
          <a:xfrm>
            <a:off x="777240" y="5253228"/>
            <a:ext cx="2834640" cy="402336"/>
          </a:xfrm>
          <a:prstGeom prst="roundRect">
            <a:avLst>
              <a:gd name="adj" fmla="val 13636"/>
            </a:avLst>
          </a:prstGeom>
          <a:solidFill>
            <a:srgbClr val="1B2A4A"/>
          </a:solidFill>
          <a:ln/>
        </p:spPr>
      </p:sp>
      <p:sp>
        <p:nvSpPr>
          <p:cNvPr id="11" name="Text 9"/>
          <p:cNvSpPr/>
          <p:nvPr/>
        </p:nvSpPr>
        <p:spPr>
          <a:xfrm>
            <a:off x="777240" y="5253228"/>
            <a:ext cx="2834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FE3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/opsx:continue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3840480" y="4818888"/>
            <a:ext cx="7573975" cy="12710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Creates one artifact at a time for teams that want to review each before the next is generated, instead of the default all-at-once /opsx:propose or /opsx:ff.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4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6156655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Spec-Driven Development with Agentic AI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1094415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Module 4 at a Glance</a:t>
            </a:r>
            <a:endParaRPr lang="en-US" sz="26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11094415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4175608"/>
                <a:gridCol w="4175608"/>
              </a:tblGrid>
              <a:tr h="914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GitHub Spec Kit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74B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OpenSpec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7293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/speckit.plan (separate command)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design.md (part of propose/ff)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Tasks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/speckit.tasks (separate command)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tasks.md (same step as design)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Staged review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Natural: each command is a checkpoint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/opsx:continue, one artifact at a time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4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6156655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Spec-Driven Development with Agentic AI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48640"/>
            <a:ext cx="1109441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Key Takeaways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627632"/>
            <a:ext cx="128016" cy="128016"/>
          </a:xfrm>
          <a:prstGeom prst="ellipse">
            <a:avLst/>
          </a:prstGeom>
          <a:solidFill>
            <a:srgbClr val="C0504D"/>
          </a:solidFill>
          <a:ln/>
        </p:spPr>
      </p:sp>
      <p:sp>
        <p:nvSpPr>
          <p:cNvPr id="4" name="Text 2"/>
          <p:cNvSpPr/>
          <p:nvPr/>
        </p:nvSpPr>
        <p:spPr>
          <a:xfrm>
            <a:off x="914400" y="1417320"/>
            <a:ext cx="10728655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E4EC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plan you haven't reviewed is a plan you're implicitly approving.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2999232"/>
            <a:ext cx="128016" cy="128016"/>
          </a:xfrm>
          <a:prstGeom prst="ellipse">
            <a:avLst/>
          </a:prstGeom>
          <a:solidFill>
            <a:srgbClr val="C0504D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2788920"/>
            <a:ext cx="10728655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E4EC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tasks are easier to verify and easier to isolate when something breaks.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548640" y="4370832"/>
            <a:ext cx="128016" cy="128016"/>
          </a:xfrm>
          <a:prstGeom prst="ellipse">
            <a:avLst/>
          </a:prstGeom>
          <a:solidFill>
            <a:srgbClr val="C0504D"/>
          </a:solidFill>
          <a:ln/>
        </p:spPr>
      </p:sp>
      <p:sp>
        <p:nvSpPr>
          <p:cNvPr id="8" name="Text 6"/>
          <p:cNvSpPr/>
          <p:nvPr/>
        </p:nvSpPr>
        <p:spPr>
          <a:xfrm>
            <a:off x="914400" y="4160520"/>
            <a:ext cx="10728655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E4EC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frameworks support staged review: Spec Kit through separate commands, OpenSpec through /opsx:continue.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CA3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4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6156655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A3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Spec-Driven Development with Agentic AI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1828800"/>
            <a:ext cx="11094415" cy="2377440"/>
          </a:xfrm>
          <a:prstGeom prst="roundRect">
            <a:avLst>
              <a:gd name="adj" fmla="val 4615"/>
            </a:avLst>
          </a:prstGeom>
          <a:solidFill>
            <a:srgbClr val="F2F5F9"/>
          </a:solidFill>
          <a:ln w="15875">
            <a:solidFill>
              <a:srgbClr val="C0504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005840" y="2103120"/>
            <a:ext cx="101800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C050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HANDS-ON NEXT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05840" y="2514600"/>
            <a:ext cx="10180015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 a plan from your project's spec and review it line by line as a team. Edit at least one decision you disagree with, then decompose the approved plan into tasks and confirm each one maps back to a specific requirement.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548640" y="4480560"/>
            <a:ext cx="1109441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Next: Module 5: Quality Gates Before Implementation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4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156655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Spec-Driven Development with Agentic AI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Times New Roman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2026-08-15T10:31:57Z</dcterms:created>
  <dcterms:modified xsi:type="dcterms:W3CDTF">2026-08-15T10:31:57Z</dcterms:modified>
</cp:coreProperties>
</file>