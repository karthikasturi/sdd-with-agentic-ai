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sp>
      <p:sp>
        <p:nvSpPr>
          <p:cNvPr id="3" name="Shape 1"/>
          <p:cNvSpPr/>
          <p:nvPr/>
        </p:nvSpPr>
        <p:spPr>
          <a:xfrm>
            <a:off x="548640" y="640080"/>
            <a:ext cx="2377440" cy="457200"/>
          </a:xfrm>
          <a:prstGeom prst="roundRect">
            <a:avLst>
              <a:gd name="adj" fmla="val 50000"/>
            </a:avLst>
          </a:prstGeom>
          <a:solidFill>
            <a:srgbClr val="C0504D"/>
          </a:solidFill>
          <a:ln/>
        </p:spPr>
      </p:sp>
      <p:sp>
        <p:nvSpPr>
          <p:cNvPr id="4" name="Text 2"/>
          <p:cNvSpPr/>
          <p:nvPr/>
        </p:nvSpPr>
        <p:spPr>
          <a:xfrm>
            <a:off x="548640" y="640080"/>
            <a:ext cx="237744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DAY 3</a:t>
            </a:r>
            <a:endParaRPr lang="en-US" sz="1400" dirty="0"/>
          </a:p>
        </p:txBody>
      </p:sp>
      <p:sp>
        <p:nvSpPr>
          <p:cNvPr id="5" name="Text 3"/>
          <p:cNvSpPr/>
          <p:nvPr/>
        </p:nvSpPr>
        <p:spPr>
          <a:xfrm>
            <a:off x="548640" y="1371600"/>
            <a:ext cx="11094415" cy="457200"/>
          </a:xfrm>
          <a:prstGeom prst="rect">
            <a:avLst/>
          </a:prstGeom>
          <a:noFill/>
          <a:ln/>
        </p:spPr>
        <p:txBody>
          <a:bodyPr wrap="square" rtlCol="0" anchor="ctr"/>
          <a:lstStyle/>
          <a:p>
            <a:pPr algn="l" indent="0" marL="0">
              <a:buNone/>
            </a:pPr>
            <a:r>
              <a:rPr lang="en-US" sz="1600" dirty="0">
                <a:solidFill>
                  <a:srgbClr val="9FB3D1"/>
                </a:solidFill>
                <a:latin typeface="Calibri" pitchFamily="34" charset="0"/>
                <a:ea typeface="Calibri" pitchFamily="34" charset="-122"/>
                <a:cs typeface="Calibri" pitchFamily="34" charset="-120"/>
              </a:rPr>
              <a:t>Module 7</a:t>
            </a:r>
            <a:endParaRPr lang="en-US" sz="1600" dirty="0"/>
          </a:p>
        </p:txBody>
      </p:sp>
      <p:sp>
        <p:nvSpPr>
          <p:cNvPr id="6" name="Text 4"/>
          <p:cNvSpPr/>
          <p:nvPr/>
        </p:nvSpPr>
        <p:spPr>
          <a:xfrm>
            <a:off x="548640" y="1828800"/>
            <a:ext cx="11094415" cy="2194560"/>
          </a:xfrm>
          <a:prstGeom prst="rect">
            <a:avLst/>
          </a:prstGeom>
          <a:noFill/>
          <a:ln/>
        </p:spPr>
        <p:txBody>
          <a:bodyPr wrap="square" rtlCol="0" anchor="t"/>
          <a:lstStyle/>
          <a:p>
            <a:pPr algn="l" indent="0" marL="0">
              <a:buNone/>
            </a:pPr>
            <a:r>
              <a:rPr lang="en-US" sz="4400" b="1" dirty="0">
                <a:solidFill>
                  <a:srgbClr val="FFFFFF"/>
                </a:solidFill>
                <a:latin typeface="Times New Roman" pitchFamily="34" charset="0"/>
                <a:ea typeface="Times New Roman" pitchFamily="34" charset="-122"/>
                <a:cs typeface="Times New Roman" pitchFamily="34" charset="-120"/>
              </a:rPr>
              <a:t>Multi-Agent Workflows and Team Adoption</a:t>
            </a:r>
            <a:endParaRPr lang="en-US" sz="4400" dirty="0"/>
          </a:p>
        </p:txBody>
      </p:sp>
      <p:sp>
        <p:nvSpPr>
          <p:cNvPr id="7" name="Shape 5"/>
          <p:cNvSpPr/>
          <p:nvPr/>
        </p:nvSpPr>
        <p:spPr>
          <a:xfrm>
            <a:off x="548640" y="4206240"/>
            <a:ext cx="2011680" cy="0"/>
          </a:xfrm>
          <a:prstGeom prst="line">
            <a:avLst/>
          </a:prstGeom>
          <a:noFill/>
          <a:ln w="38100">
            <a:solidFill>
              <a:srgbClr val="C0504D"/>
            </a:solidFill>
            <a:prstDash val="solid"/>
          </a:ln>
        </p:spPr>
      </p:sp>
      <p:sp>
        <p:nvSpPr>
          <p:cNvPr id="8" name="Text 6"/>
          <p:cNvSpPr/>
          <p:nvPr/>
        </p:nvSpPr>
        <p:spPr>
          <a:xfrm>
            <a:off x="548640" y="4434840"/>
            <a:ext cx="10180015" cy="1280160"/>
          </a:xfrm>
          <a:prstGeom prst="rect">
            <a:avLst/>
          </a:prstGeom>
          <a:noFill/>
          <a:ln/>
        </p:spPr>
        <p:txBody>
          <a:bodyPr wrap="square" rtlCol="0" anchor="t"/>
          <a:lstStyle/>
          <a:p>
            <a:pPr algn="l" indent="0" marL="0">
              <a:buNone/>
            </a:pPr>
            <a:r>
              <a:rPr lang="en-US" sz="1800" i="1" dirty="0">
                <a:solidFill>
                  <a:srgbClr val="CADCFC"/>
                </a:solidFill>
                <a:latin typeface="Calibri" pitchFamily="34" charset="0"/>
                <a:ea typeface="Calibri" pitchFamily="34" charset="-122"/>
                <a:cs typeface="Calibri" pitchFamily="34" charset="-120"/>
              </a:rPr>
              <a:t>Coordinating parallel work, and keeping an audit trail across teams and toolchains.</a:t>
            </a:r>
            <a:endParaRPr lang="en-US" sz="18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731520"/>
          </a:xfrm>
          <a:prstGeom prst="rect">
            <a:avLst/>
          </a:prstGeom>
          <a:noFill/>
          <a:ln/>
        </p:spPr>
        <p:txBody>
          <a:bodyPr wrap="square" rtlCol="0" anchor="ctr"/>
          <a:lstStyle/>
          <a:p>
            <a:pPr indent="0" marL="0">
              <a:buNone/>
            </a:pPr>
            <a:r>
              <a:rPr lang="en-US" sz="3200" b="1" dirty="0">
                <a:solidFill>
                  <a:srgbClr val="1B2A4A"/>
                </a:solidFill>
                <a:latin typeface="Times New Roman" pitchFamily="34" charset="0"/>
                <a:ea typeface="Times New Roman" pitchFamily="34" charset="-122"/>
                <a:cs typeface="Times New Roman" pitchFamily="34" charset="-120"/>
              </a:rPr>
              <a:t>What You'll Learn</a:t>
            </a:r>
            <a:endParaRPr lang="en-US" sz="3200" dirty="0"/>
          </a:p>
        </p:txBody>
      </p:sp>
      <p:sp>
        <p:nvSpPr>
          <p:cNvPr id="3" name="Shape 1"/>
          <p:cNvSpPr/>
          <p:nvPr/>
        </p:nvSpPr>
        <p:spPr>
          <a:xfrm>
            <a:off x="548640" y="1554480"/>
            <a:ext cx="502920" cy="502920"/>
          </a:xfrm>
          <a:prstGeom prst="ellipse">
            <a:avLst/>
          </a:prstGeom>
          <a:solidFill>
            <a:srgbClr val="2E74B5"/>
          </a:solidFill>
          <a:ln/>
        </p:spPr>
      </p:sp>
      <p:sp>
        <p:nvSpPr>
          <p:cNvPr id="4" name="Text 2"/>
          <p:cNvSpPr/>
          <p:nvPr/>
        </p:nvSpPr>
        <p:spPr>
          <a:xfrm>
            <a:off x="548640" y="155448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p:nvPr/>
        </p:nvSpPr>
        <p:spPr>
          <a:xfrm>
            <a:off x="1325880" y="150876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Coordinate multiple agents or subagents across a task graph</a:t>
            </a:r>
            <a:endParaRPr lang="en-US" sz="1600" dirty="0"/>
          </a:p>
        </p:txBody>
      </p:sp>
      <p:sp>
        <p:nvSpPr>
          <p:cNvPr id="6" name="Shape 4"/>
          <p:cNvSpPr/>
          <p:nvPr/>
        </p:nvSpPr>
        <p:spPr>
          <a:xfrm>
            <a:off x="548640" y="2514600"/>
            <a:ext cx="502920" cy="502920"/>
          </a:xfrm>
          <a:prstGeom prst="ellipse">
            <a:avLst/>
          </a:prstGeom>
          <a:solidFill>
            <a:srgbClr val="C0504D"/>
          </a:solidFill>
          <a:ln/>
        </p:spPr>
      </p:sp>
      <p:sp>
        <p:nvSpPr>
          <p:cNvPr id="7" name="Text 5"/>
          <p:cNvSpPr/>
          <p:nvPr/>
        </p:nvSpPr>
        <p:spPr>
          <a:xfrm>
            <a:off x="548640" y="251460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8" name="Text 6"/>
          <p:cNvSpPr/>
          <p:nvPr/>
        </p:nvSpPr>
        <p:spPr>
          <a:xfrm>
            <a:off x="1325880" y="246888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Decide when to parallelize versus sequence work</a:t>
            </a:r>
            <a:endParaRPr lang="en-US" sz="1600" dirty="0"/>
          </a:p>
        </p:txBody>
      </p:sp>
      <p:sp>
        <p:nvSpPr>
          <p:cNvPr id="9" name="Shape 7"/>
          <p:cNvSpPr/>
          <p:nvPr/>
        </p:nvSpPr>
        <p:spPr>
          <a:xfrm>
            <a:off x="548640" y="3474720"/>
            <a:ext cx="502920" cy="502920"/>
          </a:xfrm>
          <a:prstGeom prst="ellipse">
            <a:avLst/>
          </a:prstGeom>
          <a:solidFill>
            <a:srgbClr val="2E74B5"/>
          </a:solidFill>
          <a:ln/>
        </p:spPr>
      </p:sp>
      <p:sp>
        <p:nvSpPr>
          <p:cNvPr id="10" name="Text 8"/>
          <p:cNvSpPr/>
          <p:nvPr/>
        </p:nvSpPr>
        <p:spPr>
          <a:xfrm>
            <a:off x="548640" y="347472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1" name="Text 9"/>
          <p:cNvSpPr/>
          <p:nvPr/>
        </p:nvSpPr>
        <p:spPr>
          <a:xfrm>
            <a:off x="1325880" y="342900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Apply repository conventions and governance across teams and toolchains</a:t>
            </a:r>
            <a:endParaRPr lang="en-US" sz="1600" dirty="0"/>
          </a:p>
        </p:txBody>
      </p:sp>
      <p:sp>
        <p:nvSpPr>
          <p:cNvPr id="12" name="Text 10"/>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13" name="Text 11"/>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320040"/>
          </a:xfrm>
          <a:prstGeom prst="rect">
            <a:avLst/>
          </a:prstGeom>
          <a:noFill/>
          <a:ln/>
        </p:spPr>
        <p:txBody>
          <a:bodyPr wrap="square" rtlCol="0" anchor="ctr"/>
          <a:lstStyle/>
          <a:p>
            <a:pPr indent="0" marL="0">
              <a:buNone/>
            </a:pPr>
            <a:r>
              <a:rPr lang="en-US" sz="1300" b="1" spc="100" kern="0" dirty="0">
                <a:solidFill>
                  <a:srgbClr val="C0504D"/>
                </a:solidFill>
                <a:latin typeface="Calibri" pitchFamily="34" charset="0"/>
                <a:ea typeface="Calibri" pitchFamily="34" charset="-122"/>
                <a:cs typeface="Calibri" pitchFamily="34" charset="-120"/>
              </a:rPr>
              <a:t>COORDINATION</a:t>
            </a:r>
            <a:endParaRPr lang="en-US" sz="1300" dirty="0"/>
          </a:p>
        </p:txBody>
      </p:sp>
      <p:sp>
        <p:nvSpPr>
          <p:cNvPr id="3" name="Text 1"/>
          <p:cNvSpPr/>
          <p:nvPr/>
        </p:nvSpPr>
        <p:spPr>
          <a:xfrm>
            <a:off x="548640" y="713232"/>
            <a:ext cx="11094415" cy="640080"/>
          </a:xfrm>
          <a:prstGeom prst="rect">
            <a:avLst/>
          </a:prstGeom>
          <a:noFill/>
          <a:ln/>
        </p:spPr>
        <p:txBody>
          <a:bodyPr wrap="square" rtlCol="0" anchor="ctr"/>
          <a:lstStyle/>
          <a:p>
            <a:pPr indent="0" marL="0">
              <a:buNone/>
            </a:pPr>
            <a:r>
              <a:rPr lang="en-US" sz="2800" b="1" dirty="0">
                <a:solidFill>
                  <a:srgbClr val="1B2A4A"/>
                </a:solidFill>
                <a:latin typeface="Times New Roman" pitchFamily="34" charset="0"/>
                <a:ea typeface="Times New Roman" pitchFamily="34" charset="-122"/>
                <a:cs typeface="Times New Roman" pitchFamily="34" charset="-120"/>
              </a:rPr>
              <a:t>Parallelize or Sequence?</a:t>
            </a:r>
            <a:endParaRPr lang="en-US" sz="2800" dirty="0"/>
          </a:p>
        </p:txBody>
      </p:sp>
      <p:sp>
        <p:nvSpPr>
          <p:cNvPr id="4" name="Shape 2"/>
          <p:cNvSpPr/>
          <p:nvPr/>
        </p:nvSpPr>
        <p:spPr>
          <a:xfrm>
            <a:off x="548640" y="1600200"/>
            <a:ext cx="11094415" cy="2304288"/>
          </a:xfrm>
          <a:prstGeom prst="roundRect">
            <a:avLst>
              <a:gd name="adj" fmla="val 3175"/>
            </a:avLst>
          </a:prstGeom>
          <a:solidFill>
            <a:srgbClr val="F2F5F9"/>
          </a:solidFill>
          <a:ln/>
        </p:spPr>
      </p:sp>
      <p:sp>
        <p:nvSpPr>
          <p:cNvPr id="5" name="Shape 3"/>
          <p:cNvSpPr/>
          <p:nvPr/>
        </p:nvSpPr>
        <p:spPr>
          <a:xfrm>
            <a:off x="548640" y="1600200"/>
            <a:ext cx="73152" cy="2304288"/>
          </a:xfrm>
          <a:prstGeom prst="rect">
            <a:avLst/>
          </a:prstGeom>
          <a:solidFill>
            <a:srgbClr val="2E74B5"/>
          </a:solidFill>
          <a:ln/>
        </p:spPr>
      </p:sp>
      <p:sp>
        <p:nvSpPr>
          <p:cNvPr id="6" name="Text 4"/>
          <p:cNvSpPr/>
          <p:nvPr/>
        </p:nvSpPr>
        <p:spPr>
          <a:xfrm>
            <a:off x="822960" y="1673352"/>
            <a:ext cx="10545775" cy="215798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Some work parallelizes cleanly: independent services, independent tasks. Some doesn't: shared state, sequential dependencies, so the decision to parallelize has to be made per task, not assumed by default.</a:t>
            </a:r>
            <a:endParaRPr lang="en-US" sz="1500" dirty="0"/>
          </a:p>
        </p:txBody>
      </p:sp>
      <p:sp>
        <p:nvSpPr>
          <p:cNvPr id="7" name="Shape 5"/>
          <p:cNvSpPr/>
          <p:nvPr/>
        </p:nvSpPr>
        <p:spPr>
          <a:xfrm>
            <a:off x="548640" y="4069080"/>
            <a:ext cx="11094415" cy="2304288"/>
          </a:xfrm>
          <a:prstGeom prst="roundRect">
            <a:avLst>
              <a:gd name="adj" fmla="val 3175"/>
            </a:avLst>
          </a:prstGeom>
          <a:solidFill>
            <a:srgbClr val="F2F5F9"/>
          </a:solidFill>
          <a:ln/>
        </p:spPr>
      </p:sp>
      <p:sp>
        <p:nvSpPr>
          <p:cNvPr id="8" name="Shape 6"/>
          <p:cNvSpPr/>
          <p:nvPr/>
        </p:nvSpPr>
        <p:spPr>
          <a:xfrm>
            <a:off x="548640" y="4069080"/>
            <a:ext cx="73152" cy="2304288"/>
          </a:xfrm>
          <a:prstGeom prst="rect">
            <a:avLst/>
          </a:prstGeom>
          <a:solidFill>
            <a:srgbClr val="C0504D"/>
          </a:solidFill>
          <a:ln/>
        </p:spPr>
      </p:sp>
      <p:sp>
        <p:nvSpPr>
          <p:cNvPr id="9" name="Text 7"/>
          <p:cNvSpPr/>
          <p:nvPr/>
        </p:nvSpPr>
        <p:spPr>
          <a:xfrm>
            <a:off x="822960" y="4142232"/>
            <a:ext cx="10545775" cy="215798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Delegating a focused sub-task to a second agent instance works best when the boundary is clear and the output is easy to review on its own, otherwise the coordination overhead can outweigh the time saved.</a:t>
            </a:r>
            <a:endParaRPr lang="en-US" sz="1500" dirty="0"/>
          </a:p>
        </p:txBody>
      </p:sp>
      <p:sp>
        <p:nvSpPr>
          <p:cNvPr id="10" name="Text 8"/>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11" name="Text 9"/>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320040"/>
          </a:xfrm>
          <a:prstGeom prst="rect">
            <a:avLst/>
          </a:prstGeom>
          <a:noFill/>
          <a:ln/>
        </p:spPr>
        <p:txBody>
          <a:bodyPr wrap="square" rtlCol="0" anchor="ctr"/>
          <a:lstStyle/>
          <a:p>
            <a:pPr indent="0" marL="0">
              <a:buNone/>
            </a:pPr>
            <a:r>
              <a:rPr lang="en-US" sz="1300" b="1" spc="100" kern="0" dirty="0">
                <a:solidFill>
                  <a:srgbClr val="C0504D"/>
                </a:solidFill>
                <a:latin typeface="Calibri" pitchFamily="34" charset="0"/>
                <a:ea typeface="Calibri" pitchFamily="34" charset="-122"/>
                <a:cs typeface="Calibri" pitchFamily="34" charset="-120"/>
              </a:rPr>
              <a:t>AT TEAM SCALE</a:t>
            </a:r>
            <a:endParaRPr lang="en-US" sz="1300" dirty="0"/>
          </a:p>
        </p:txBody>
      </p:sp>
      <p:sp>
        <p:nvSpPr>
          <p:cNvPr id="3" name="Text 1"/>
          <p:cNvSpPr/>
          <p:nvPr/>
        </p:nvSpPr>
        <p:spPr>
          <a:xfrm>
            <a:off x="548640" y="713232"/>
            <a:ext cx="11094415" cy="640080"/>
          </a:xfrm>
          <a:prstGeom prst="rect">
            <a:avLst/>
          </a:prstGeom>
          <a:noFill/>
          <a:ln/>
        </p:spPr>
        <p:txBody>
          <a:bodyPr wrap="square" rtlCol="0" anchor="ctr"/>
          <a:lstStyle/>
          <a:p>
            <a:pPr indent="0" marL="0">
              <a:buNone/>
            </a:pPr>
            <a:r>
              <a:rPr lang="en-US" sz="2800" b="1" dirty="0">
                <a:solidFill>
                  <a:srgbClr val="1B2A4A"/>
                </a:solidFill>
                <a:latin typeface="Times New Roman" pitchFamily="34" charset="0"/>
                <a:ea typeface="Times New Roman" pitchFamily="34" charset="-122"/>
                <a:cs typeface="Times New Roman" pitchFamily="34" charset="-120"/>
              </a:rPr>
              <a:t>Conventions and Governance</a:t>
            </a:r>
            <a:endParaRPr lang="en-US" sz="2800" dirty="0"/>
          </a:p>
        </p:txBody>
      </p:sp>
      <p:sp>
        <p:nvSpPr>
          <p:cNvPr id="4" name="Shape 2"/>
          <p:cNvSpPr/>
          <p:nvPr/>
        </p:nvSpPr>
        <p:spPr>
          <a:xfrm>
            <a:off x="548640" y="1600200"/>
            <a:ext cx="11094415" cy="2304288"/>
          </a:xfrm>
          <a:prstGeom prst="roundRect">
            <a:avLst>
              <a:gd name="adj" fmla="val 3175"/>
            </a:avLst>
          </a:prstGeom>
          <a:solidFill>
            <a:srgbClr val="F2F5F9"/>
          </a:solidFill>
          <a:ln/>
        </p:spPr>
      </p:sp>
      <p:sp>
        <p:nvSpPr>
          <p:cNvPr id="5" name="Shape 3"/>
          <p:cNvSpPr/>
          <p:nvPr/>
        </p:nvSpPr>
        <p:spPr>
          <a:xfrm>
            <a:off x="548640" y="1600200"/>
            <a:ext cx="73152" cy="2304288"/>
          </a:xfrm>
          <a:prstGeom prst="rect">
            <a:avLst/>
          </a:prstGeom>
          <a:solidFill>
            <a:srgbClr val="2E74B5"/>
          </a:solidFill>
          <a:ln/>
        </p:spPr>
      </p:sp>
      <p:sp>
        <p:nvSpPr>
          <p:cNvPr id="6" name="Text 4"/>
          <p:cNvSpPr/>
          <p:nvPr/>
        </p:nvSpPr>
        <p:spPr>
          <a:xfrm>
            <a:off x="822960" y="1673352"/>
            <a:ext cx="10545775" cy="215798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A specs/ subdirectory per service, with specs linked to issues and pull requests, so anyone can trace a change back to the requirement that justified it.</a:t>
            </a:r>
            <a:endParaRPr lang="en-US" sz="1500" dirty="0"/>
          </a:p>
        </p:txBody>
      </p:sp>
      <p:sp>
        <p:nvSpPr>
          <p:cNvPr id="7" name="Shape 5"/>
          <p:cNvSpPr/>
          <p:nvPr/>
        </p:nvSpPr>
        <p:spPr>
          <a:xfrm>
            <a:off x="548640" y="4069080"/>
            <a:ext cx="11094415" cy="2304288"/>
          </a:xfrm>
          <a:prstGeom prst="roundRect">
            <a:avLst>
              <a:gd name="adj" fmla="val 3175"/>
            </a:avLst>
          </a:prstGeom>
          <a:solidFill>
            <a:srgbClr val="F2F5F9"/>
          </a:solidFill>
          <a:ln/>
        </p:spPr>
      </p:sp>
      <p:sp>
        <p:nvSpPr>
          <p:cNvPr id="8" name="Shape 6"/>
          <p:cNvSpPr/>
          <p:nvPr/>
        </p:nvSpPr>
        <p:spPr>
          <a:xfrm>
            <a:off x="548640" y="4069080"/>
            <a:ext cx="73152" cy="2304288"/>
          </a:xfrm>
          <a:prstGeom prst="rect">
            <a:avLst/>
          </a:prstGeom>
          <a:solidFill>
            <a:srgbClr val="C0504D"/>
          </a:solidFill>
          <a:ln/>
        </p:spPr>
      </p:sp>
      <p:sp>
        <p:nvSpPr>
          <p:cNvPr id="9" name="Text 7"/>
          <p:cNvSpPr/>
          <p:nvPr/>
        </p:nvSpPr>
        <p:spPr>
          <a:xfrm>
            <a:off x="822960" y="4142232"/>
            <a:ext cx="10545775" cy="215798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Reviewing agent actions before execution, managing secrets and permissions, and keeping an audit trail that holds up across teams using different toolchains, so governance doesn't quietly break down the moment two teams use different tools.</a:t>
            </a:r>
            <a:endParaRPr lang="en-US" sz="1500" dirty="0"/>
          </a:p>
        </p:txBody>
      </p:sp>
      <p:sp>
        <p:nvSpPr>
          <p:cNvPr id="10" name="Text 8"/>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11" name="Text 9"/>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0080"/>
            <a:ext cx="11094415" cy="320040"/>
          </a:xfrm>
          <a:prstGeom prst="rect">
            <a:avLst/>
          </a:prstGeom>
          <a:noFill/>
          <a:ln/>
        </p:spPr>
        <p:txBody>
          <a:bodyPr wrap="square" rtlCol="0" anchor="ctr"/>
          <a:lstStyle/>
          <a:p>
            <a:pPr indent="0" marL="0">
              <a:buNone/>
            </a:pPr>
            <a:r>
              <a:rPr lang="en-US" sz="1300" b="1" spc="100" kern="0" dirty="0">
                <a:solidFill>
                  <a:srgbClr val="9FB3D1"/>
                </a:solidFill>
                <a:latin typeface="Calibri" pitchFamily="34" charset="0"/>
                <a:ea typeface="Calibri" pitchFamily="34" charset="-122"/>
                <a:cs typeface="Calibri" pitchFamily="34" charset="-120"/>
              </a:rPr>
              <a:t>WHY IT MATTERS</a:t>
            </a:r>
            <a:endParaRPr lang="en-US" sz="1300" dirty="0"/>
          </a:p>
        </p:txBody>
      </p:sp>
      <p:sp>
        <p:nvSpPr>
          <p:cNvPr id="3" name="Text 1"/>
          <p:cNvSpPr/>
          <p:nvPr/>
        </p:nvSpPr>
        <p:spPr>
          <a:xfrm>
            <a:off x="548640" y="1051560"/>
            <a:ext cx="10180015" cy="1645920"/>
          </a:xfrm>
          <a:prstGeom prst="rect">
            <a:avLst/>
          </a:prstGeom>
          <a:noFill/>
          <a:ln/>
        </p:spPr>
        <p:txBody>
          <a:bodyPr wrap="square" rtlCol="0" anchor="t"/>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Uncoordinated parallel agents create their own kind of chaos.</a:t>
            </a:r>
            <a:endParaRPr lang="en-US" sz="2800" dirty="0"/>
          </a:p>
        </p:txBody>
      </p:sp>
      <p:sp>
        <p:nvSpPr>
          <p:cNvPr id="4" name="Shape 2"/>
          <p:cNvSpPr/>
          <p:nvPr/>
        </p:nvSpPr>
        <p:spPr>
          <a:xfrm>
            <a:off x="548640" y="3017520"/>
            <a:ext cx="11094415" cy="713232"/>
          </a:xfrm>
          <a:prstGeom prst="roundRect">
            <a:avLst>
              <a:gd name="adj" fmla="val 10256"/>
            </a:avLst>
          </a:prstGeom>
          <a:solidFill>
            <a:srgbClr val="233A63"/>
          </a:solidFill>
          <a:ln/>
        </p:spPr>
      </p:sp>
      <p:sp>
        <p:nvSpPr>
          <p:cNvPr id="5" name="Text 3"/>
          <p:cNvSpPr/>
          <p:nvPr/>
        </p:nvSpPr>
        <p:spPr>
          <a:xfrm>
            <a:off x="822960" y="3017520"/>
            <a:ext cx="10545775" cy="713232"/>
          </a:xfrm>
          <a:prstGeom prst="rect">
            <a:avLst/>
          </a:prstGeom>
          <a:noFill/>
          <a:ln/>
        </p:spPr>
        <p:txBody>
          <a:bodyPr wrap="square" rtlCol="0" anchor="ctr"/>
          <a:lstStyle/>
          <a:p>
            <a:pPr indent="0" marL="0">
              <a:buNone/>
            </a:pPr>
            <a:r>
              <a:rPr lang="en-US" sz="1500" dirty="0">
                <a:solidFill>
                  <a:srgbClr val="E4ECFA"/>
                </a:solidFill>
                <a:latin typeface="Calibri" pitchFamily="34" charset="0"/>
                <a:ea typeface="Calibri" pitchFamily="34" charset="-122"/>
                <a:cs typeface="Calibri" pitchFamily="34" charset="-120"/>
              </a:rPr>
              <a:t>Two agents editing overlapping code without visibility into each other produce conflicts no single review catches early, because neither review was looking for a conflict with work happening somewhere else.</a:t>
            </a:r>
            <a:endParaRPr lang="en-US" sz="1500" dirty="0"/>
          </a:p>
        </p:txBody>
      </p:sp>
      <p:sp>
        <p:nvSpPr>
          <p:cNvPr id="6" name="Shape 4"/>
          <p:cNvSpPr/>
          <p:nvPr/>
        </p:nvSpPr>
        <p:spPr>
          <a:xfrm>
            <a:off x="548640" y="3886200"/>
            <a:ext cx="11094415" cy="713232"/>
          </a:xfrm>
          <a:prstGeom prst="roundRect">
            <a:avLst>
              <a:gd name="adj" fmla="val 10256"/>
            </a:avLst>
          </a:prstGeom>
          <a:solidFill>
            <a:srgbClr val="233A63"/>
          </a:solidFill>
          <a:ln/>
        </p:spPr>
      </p:sp>
      <p:sp>
        <p:nvSpPr>
          <p:cNvPr id="7" name="Text 5"/>
          <p:cNvSpPr/>
          <p:nvPr/>
        </p:nvSpPr>
        <p:spPr>
          <a:xfrm>
            <a:off x="822960" y="3886200"/>
            <a:ext cx="10545775" cy="713232"/>
          </a:xfrm>
          <a:prstGeom prst="rect">
            <a:avLst/>
          </a:prstGeom>
          <a:noFill/>
          <a:ln/>
        </p:spPr>
        <p:txBody>
          <a:bodyPr wrap="square" rtlCol="0" anchor="ctr"/>
          <a:lstStyle/>
          <a:p>
            <a:pPr indent="0" marL="0">
              <a:buNone/>
            </a:pPr>
            <a:r>
              <a:rPr lang="en-US" sz="1500" dirty="0">
                <a:solidFill>
                  <a:srgbClr val="E4ECFA"/>
                </a:solidFill>
                <a:latin typeface="Calibri" pitchFamily="34" charset="0"/>
                <a:ea typeface="Calibri" pitchFamily="34" charset="-122"/>
                <a:cs typeface="Calibri" pitchFamily="34" charset="-120"/>
              </a:rPr>
              <a:t>An audit trail only works if every agent's actions were reviewable in the first place, so visibility has to be designed in before you parallelize, not added afterward.</a:t>
            </a:r>
            <a:endParaRPr lang="en-US" sz="1500" dirty="0"/>
          </a:p>
        </p:txBody>
      </p:sp>
      <p:sp>
        <p:nvSpPr>
          <p:cNvPr id="8" name="Text 6"/>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7</a:t>
            </a:r>
            <a:endParaRPr lang="en-US" sz="1000" dirty="0"/>
          </a:p>
        </p:txBody>
      </p:sp>
      <p:sp>
        <p:nvSpPr>
          <p:cNvPr id="9" name="Text 7"/>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E74B5"/>
        </a:solidFill>
      </p:bgPr>
    </p:bg>
    <p:spTree>
      <p:nvGrpSpPr>
        <p:cNvPr id="1" name=""/>
        <p:cNvGrpSpPr/>
        <p:nvPr/>
      </p:nvGrpSpPr>
      <p:grpSpPr>
        <a:xfrm>
          <a:off x="0" y="0"/>
          <a:ext cx="0" cy="0"/>
          <a:chOff x="0" y="0"/>
          <a:chExt cx="0" cy="0"/>
        </a:xfrm>
      </p:grpSpPr>
      <p:sp>
        <p:nvSpPr>
          <p:cNvPr id="2" name="Text 0"/>
          <p:cNvSpPr/>
          <p:nvPr/>
        </p:nvSpPr>
        <p:spPr>
          <a:xfrm>
            <a:off x="548640" y="2468880"/>
            <a:ext cx="11094415" cy="365760"/>
          </a:xfrm>
          <a:prstGeom prst="rect">
            <a:avLst/>
          </a:prstGeom>
          <a:noFill/>
          <a:ln/>
        </p:spPr>
        <p:txBody>
          <a:bodyPr wrap="square" rtlCol="0" anchor="ctr"/>
          <a:lstStyle/>
          <a:p>
            <a:pPr algn="l" indent="0" marL="0">
              <a:buNone/>
            </a:pPr>
            <a:r>
              <a:rPr lang="en-US" sz="1400" b="1" spc="200" kern="0" dirty="0">
                <a:solidFill>
                  <a:srgbClr val="D8E6F5"/>
                </a:solidFill>
                <a:latin typeface="Calibri" pitchFamily="34" charset="0"/>
                <a:ea typeface="Calibri" pitchFamily="34" charset="-122"/>
                <a:cs typeface="Calibri" pitchFamily="34" charset="-120"/>
              </a:rPr>
              <a:t>APPLYING THE CONCEPTS</a:t>
            </a:r>
            <a:endParaRPr lang="en-US" sz="1400" dirty="0"/>
          </a:p>
        </p:txBody>
      </p:sp>
      <p:sp>
        <p:nvSpPr>
          <p:cNvPr id="3" name="Text 1"/>
          <p:cNvSpPr/>
          <p:nvPr/>
        </p:nvSpPr>
        <p:spPr>
          <a:xfrm>
            <a:off x="548640" y="2834640"/>
            <a:ext cx="11094415" cy="1188720"/>
          </a:xfrm>
          <a:prstGeom prst="rect">
            <a:avLst/>
          </a:prstGeom>
          <a:noFill/>
          <a:ln/>
        </p:spPr>
        <p:txBody>
          <a:bodyPr wrap="square" rtlCol="0" anchor="ctr"/>
          <a:lstStyle/>
          <a:p>
            <a:pPr algn="l" indent="0" marL="0">
              <a:buNone/>
            </a:pPr>
            <a:r>
              <a:rPr lang="en-US" sz="4000" b="1" dirty="0">
                <a:solidFill>
                  <a:srgbClr val="FFFFFF"/>
                </a:solidFill>
                <a:latin typeface="Times New Roman" pitchFamily="34" charset="0"/>
                <a:ea typeface="Times New Roman" pitchFamily="34" charset="-122"/>
                <a:cs typeface="Times New Roman" pitchFamily="34" charset="-120"/>
              </a:rPr>
              <a:t>GitHub Spec Kit</a:t>
            </a:r>
            <a:endParaRPr lang="en-US" sz="4000" dirty="0"/>
          </a:p>
        </p:txBody>
      </p:sp>
      <p:sp>
        <p:nvSpPr>
          <p:cNvPr id="4" name="Text 2"/>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7</a:t>
            </a:r>
            <a:endParaRPr lang="en-US" sz="1000" dirty="0"/>
          </a:p>
        </p:txBody>
      </p:sp>
      <p:sp>
        <p:nvSpPr>
          <p:cNvPr id="5" name="Text 3"/>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554480" cy="365760"/>
          </a:xfrm>
          <a:prstGeom prst="roundRect">
            <a:avLst>
              <a:gd name="adj" fmla="val 50000"/>
            </a:avLst>
          </a:prstGeom>
          <a:solidFill>
            <a:srgbClr val="2E74B5"/>
          </a:solidFill>
          <a:ln/>
        </p:spPr>
      </p:sp>
      <p:sp>
        <p:nvSpPr>
          <p:cNvPr id="3" name="Text 1"/>
          <p:cNvSpPr/>
          <p:nvPr/>
        </p:nvSpPr>
        <p:spPr>
          <a:xfrm>
            <a:off x="548640" y="457200"/>
            <a:ext cx="155448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SPEC KIT</a:t>
            </a:r>
            <a:endParaRPr lang="en-US" sz="1200" dirty="0"/>
          </a:p>
        </p:txBody>
      </p:sp>
      <p:sp>
        <p:nvSpPr>
          <p:cNvPr id="4" name="Text 2"/>
          <p:cNvSpPr/>
          <p:nvPr/>
        </p:nvSpPr>
        <p:spPr>
          <a:xfrm>
            <a:off x="548640" y="914400"/>
            <a:ext cx="11094415" cy="594360"/>
          </a:xfrm>
          <a:prstGeom prst="rect">
            <a:avLst/>
          </a:prstGeom>
          <a:noFill/>
          <a:ln/>
        </p:spPr>
        <p:txBody>
          <a:bodyPr wrap="square" rtlCol="0" anchor="ctr"/>
          <a:lstStyle/>
          <a:p>
            <a:pPr indent="0" marL="0">
              <a:buNone/>
            </a:pPr>
            <a:r>
              <a:rPr lang="en-US" sz="2500" b="1" dirty="0">
                <a:solidFill>
                  <a:srgbClr val="1B2A4A"/>
                </a:solidFill>
                <a:latin typeface="Times New Roman" pitchFamily="34" charset="0"/>
                <a:ea typeface="Times New Roman" pitchFamily="34" charset="-122"/>
                <a:cs typeface="Times New Roman" pitchFamily="34" charset="-120"/>
              </a:rPr>
              <a:t>Workflows: Explicit Orchestration</a:t>
            </a:r>
            <a:endParaRPr lang="en-US" sz="2500" dirty="0"/>
          </a:p>
        </p:txBody>
      </p:sp>
      <p:sp>
        <p:nvSpPr>
          <p:cNvPr id="5" name="Shape 3"/>
          <p:cNvSpPr/>
          <p:nvPr/>
        </p:nvSpPr>
        <p:spPr>
          <a:xfrm>
            <a:off x="548640" y="1691640"/>
            <a:ext cx="11094415" cy="1417320"/>
          </a:xfrm>
          <a:prstGeom prst="roundRect">
            <a:avLst>
              <a:gd name="adj" fmla="val 5161"/>
            </a:avLst>
          </a:prstGeom>
          <a:solidFill>
            <a:srgbClr val="F2F5F9"/>
          </a:solidFill>
          <a:ln/>
        </p:spPr>
      </p:sp>
      <p:sp>
        <p:nvSpPr>
          <p:cNvPr id="6" name="Shape 4"/>
          <p:cNvSpPr/>
          <p:nvPr/>
        </p:nvSpPr>
        <p:spPr>
          <a:xfrm>
            <a:off x="777240" y="2199132"/>
            <a:ext cx="2834640" cy="402336"/>
          </a:xfrm>
          <a:prstGeom prst="roundRect">
            <a:avLst>
              <a:gd name="adj" fmla="val 13636"/>
            </a:avLst>
          </a:prstGeom>
          <a:solidFill>
            <a:srgbClr val="1B2A4A"/>
          </a:solidFill>
          <a:ln/>
        </p:spPr>
      </p:sp>
      <p:sp>
        <p:nvSpPr>
          <p:cNvPr id="7" name="Text 5"/>
          <p:cNvSpPr/>
          <p:nvPr/>
        </p:nvSpPr>
        <p:spPr>
          <a:xfrm>
            <a:off x="777240" y="2199132"/>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specify workflow run</a:t>
            </a:r>
            <a:endParaRPr lang="en-US" sz="1200" dirty="0"/>
          </a:p>
        </p:txBody>
      </p:sp>
      <p:sp>
        <p:nvSpPr>
          <p:cNvPr id="8" name="Text 6"/>
          <p:cNvSpPr/>
          <p:nvPr/>
        </p:nvSpPr>
        <p:spPr>
          <a:xfrm>
            <a:off x="3840480" y="1764792"/>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YAML-defined workflows chain commands, prompts, and shell steps into repeatable sequences, with gate steps for human checkpoints, so a multi-step process can be run the same way every time instead of reassembled manually.</a:t>
            </a:r>
            <a:endParaRPr lang="en-US" sz="1350" dirty="0"/>
          </a:p>
        </p:txBody>
      </p:sp>
      <p:sp>
        <p:nvSpPr>
          <p:cNvPr id="9" name="Shape 7"/>
          <p:cNvSpPr/>
          <p:nvPr/>
        </p:nvSpPr>
        <p:spPr>
          <a:xfrm>
            <a:off x="548640" y="3218688"/>
            <a:ext cx="11094415" cy="1417320"/>
          </a:xfrm>
          <a:prstGeom prst="roundRect">
            <a:avLst>
              <a:gd name="adj" fmla="val 5161"/>
            </a:avLst>
          </a:prstGeom>
          <a:solidFill>
            <a:srgbClr val="F2F5F9"/>
          </a:solidFill>
          <a:ln/>
        </p:spPr>
      </p:sp>
      <p:sp>
        <p:nvSpPr>
          <p:cNvPr id="10" name="Text 8"/>
          <p:cNvSpPr/>
          <p:nvPr/>
        </p:nvSpPr>
        <p:spPr>
          <a:xfrm>
            <a:off x="822960" y="3291840"/>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Parallel primitive: </a:t>
            </a:r>
            <a:pPr indent="0" marL="0">
              <a:buNone/>
            </a:pPr>
            <a:r>
              <a:rPr lang="en-US" sz="1400" dirty="0">
                <a:solidFill>
                  <a:srgbClr val="1B2A4A"/>
                </a:solidFill>
                <a:latin typeface="Calibri" pitchFamily="34" charset="0"/>
                <a:ea typeface="Calibri" pitchFamily="34" charset="-122"/>
                <a:cs typeface="Calibri" pitchFamily="34" charset="-120"/>
              </a:rPr>
              <a:t>fan-out and fan-in step types dispatch a step across a list of items and aggregate the results: a direct primitive for coordinating parallel agent work across a task graph, so parallel work doesn't have to be hand-rolled each time.</a:t>
            </a:r>
            <a:endParaRPr lang="en-US" sz="1400" dirty="0"/>
          </a:p>
        </p:txBody>
      </p:sp>
      <p:sp>
        <p:nvSpPr>
          <p:cNvPr id="11" name="Shape 9"/>
          <p:cNvSpPr/>
          <p:nvPr/>
        </p:nvSpPr>
        <p:spPr>
          <a:xfrm>
            <a:off x="548640" y="4745736"/>
            <a:ext cx="11094415" cy="1417320"/>
          </a:xfrm>
          <a:prstGeom prst="roundRect">
            <a:avLst>
              <a:gd name="adj" fmla="val 5161"/>
            </a:avLst>
          </a:prstGeom>
          <a:solidFill>
            <a:srgbClr val="F2F5F9"/>
          </a:solidFill>
          <a:ln/>
        </p:spPr>
      </p:sp>
      <p:sp>
        <p:nvSpPr>
          <p:cNvPr id="12" name="Text 10"/>
          <p:cNvSpPr/>
          <p:nvPr/>
        </p:nvSpPr>
        <p:spPr>
          <a:xfrm>
            <a:off x="822960" y="4818888"/>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Audit trail: </a:t>
            </a:r>
            <a:pPr indent="0" marL="0">
              <a:buNone/>
            </a:pPr>
            <a:r>
              <a:rPr lang="en-US" sz="1400" dirty="0">
                <a:solidFill>
                  <a:srgbClr val="1B2A4A"/>
                </a:solidFill>
                <a:latin typeface="Calibri" pitchFamily="34" charset="0"/>
                <a:ea typeface="Calibri" pitchFamily="34" charset="-122"/>
                <a:cs typeface="Calibri" pitchFamily="34" charset="-120"/>
              </a:rPr>
              <a:t>Every run persists state (state.json, log.jsonl) and can pause and resume from the exact point of interruption, doubling as an audit trail, so a long-running workflow doesn't have to restart from scratch after an interruption.</a:t>
            </a:r>
            <a:endParaRPr lang="en-US" sz="1400" dirty="0"/>
          </a:p>
        </p:txBody>
      </p:sp>
      <p:sp>
        <p:nvSpPr>
          <p:cNvPr id="13" name="Text 1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14" name="Text 1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7293"/>
        </a:solidFill>
      </p:bgPr>
    </p:bg>
    <p:spTree>
      <p:nvGrpSpPr>
        <p:cNvPr id="1" name=""/>
        <p:cNvGrpSpPr/>
        <p:nvPr/>
      </p:nvGrpSpPr>
      <p:grpSpPr>
        <a:xfrm>
          <a:off x="0" y="0"/>
          <a:ext cx="0" cy="0"/>
          <a:chOff x="0" y="0"/>
          <a:chExt cx="0" cy="0"/>
        </a:xfrm>
      </p:grpSpPr>
      <p:sp>
        <p:nvSpPr>
          <p:cNvPr id="2" name="Text 0"/>
          <p:cNvSpPr/>
          <p:nvPr/>
        </p:nvSpPr>
        <p:spPr>
          <a:xfrm>
            <a:off x="548640" y="2468880"/>
            <a:ext cx="11094415" cy="365760"/>
          </a:xfrm>
          <a:prstGeom prst="rect">
            <a:avLst/>
          </a:prstGeom>
          <a:noFill/>
          <a:ln/>
        </p:spPr>
        <p:txBody>
          <a:bodyPr wrap="square" rtlCol="0" anchor="ctr"/>
          <a:lstStyle/>
          <a:p>
            <a:pPr algn="l" indent="0" marL="0">
              <a:buNone/>
            </a:pPr>
            <a:r>
              <a:rPr lang="en-US" sz="1400" b="1" spc="200" kern="0" dirty="0">
                <a:solidFill>
                  <a:srgbClr val="D8E6F5"/>
                </a:solidFill>
                <a:latin typeface="Calibri" pitchFamily="34" charset="0"/>
                <a:ea typeface="Calibri" pitchFamily="34" charset="-122"/>
                <a:cs typeface="Calibri" pitchFamily="34" charset="-120"/>
              </a:rPr>
              <a:t>APPLYING THE CONCEPTS</a:t>
            </a:r>
            <a:endParaRPr lang="en-US" sz="1400" dirty="0"/>
          </a:p>
        </p:txBody>
      </p:sp>
      <p:sp>
        <p:nvSpPr>
          <p:cNvPr id="3" name="Text 1"/>
          <p:cNvSpPr/>
          <p:nvPr/>
        </p:nvSpPr>
        <p:spPr>
          <a:xfrm>
            <a:off x="548640" y="2834640"/>
            <a:ext cx="11094415" cy="1188720"/>
          </a:xfrm>
          <a:prstGeom prst="rect">
            <a:avLst/>
          </a:prstGeom>
          <a:noFill/>
          <a:ln/>
        </p:spPr>
        <p:txBody>
          <a:bodyPr wrap="square" rtlCol="0" anchor="ctr"/>
          <a:lstStyle/>
          <a:p>
            <a:pPr algn="l" indent="0" marL="0">
              <a:buNone/>
            </a:pPr>
            <a:r>
              <a:rPr lang="en-US" sz="4000" b="1" dirty="0">
                <a:solidFill>
                  <a:srgbClr val="FFFFFF"/>
                </a:solidFill>
                <a:latin typeface="Times New Roman" pitchFamily="34" charset="0"/>
                <a:ea typeface="Times New Roman" pitchFamily="34" charset="-122"/>
                <a:cs typeface="Times New Roman" pitchFamily="34" charset="-120"/>
              </a:rPr>
              <a:t>OpenSpec</a:t>
            </a:r>
            <a:endParaRPr lang="en-US" sz="4000" dirty="0"/>
          </a:p>
        </p:txBody>
      </p:sp>
      <p:sp>
        <p:nvSpPr>
          <p:cNvPr id="4" name="Text 2"/>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7</a:t>
            </a:r>
            <a:endParaRPr lang="en-US" sz="1000" dirty="0"/>
          </a:p>
        </p:txBody>
      </p:sp>
      <p:sp>
        <p:nvSpPr>
          <p:cNvPr id="5" name="Text 3"/>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554480" cy="365760"/>
          </a:xfrm>
          <a:prstGeom prst="roundRect">
            <a:avLst>
              <a:gd name="adj" fmla="val 50000"/>
            </a:avLst>
          </a:prstGeom>
          <a:solidFill>
            <a:srgbClr val="1C7293"/>
          </a:solidFill>
          <a:ln/>
        </p:spPr>
      </p:sp>
      <p:sp>
        <p:nvSpPr>
          <p:cNvPr id="3" name="Text 1"/>
          <p:cNvSpPr/>
          <p:nvPr/>
        </p:nvSpPr>
        <p:spPr>
          <a:xfrm>
            <a:off x="548640" y="457200"/>
            <a:ext cx="155448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OPENSPEC</a:t>
            </a:r>
            <a:endParaRPr lang="en-US" sz="1200" dirty="0"/>
          </a:p>
        </p:txBody>
      </p:sp>
      <p:sp>
        <p:nvSpPr>
          <p:cNvPr id="4" name="Text 2"/>
          <p:cNvSpPr/>
          <p:nvPr/>
        </p:nvSpPr>
        <p:spPr>
          <a:xfrm>
            <a:off x="548640" y="914400"/>
            <a:ext cx="11094415" cy="594360"/>
          </a:xfrm>
          <a:prstGeom prst="rect">
            <a:avLst/>
          </a:prstGeom>
          <a:noFill/>
          <a:ln/>
        </p:spPr>
        <p:txBody>
          <a:bodyPr wrap="square" rtlCol="0" anchor="ctr"/>
          <a:lstStyle/>
          <a:p>
            <a:pPr indent="0" marL="0">
              <a:buNone/>
            </a:pPr>
            <a:r>
              <a:rPr lang="en-US" sz="2500" b="1" dirty="0">
                <a:solidFill>
                  <a:srgbClr val="1B2A4A"/>
                </a:solidFill>
                <a:latin typeface="Times New Roman" pitchFamily="34" charset="0"/>
                <a:ea typeface="Times New Roman" pitchFamily="34" charset="-122"/>
                <a:cs typeface="Times New Roman" pitchFamily="34" charset="-120"/>
              </a:rPr>
              <a:t>Bulk-Archive, Not Orchestration</a:t>
            </a:r>
            <a:endParaRPr lang="en-US" sz="2500" dirty="0"/>
          </a:p>
        </p:txBody>
      </p:sp>
      <p:sp>
        <p:nvSpPr>
          <p:cNvPr id="5" name="Shape 3"/>
          <p:cNvSpPr/>
          <p:nvPr/>
        </p:nvSpPr>
        <p:spPr>
          <a:xfrm>
            <a:off x="548640" y="1691640"/>
            <a:ext cx="11094415" cy="1417320"/>
          </a:xfrm>
          <a:prstGeom prst="roundRect">
            <a:avLst>
              <a:gd name="adj" fmla="val 5161"/>
            </a:avLst>
          </a:prstGeom>
          <a:solidFill>
            <a:srgbClr val="F2F5F9"/>
          </a:solidFill>
          <a:ln/>
        </p:spPr>
      </p:sp>
      <p:sp>
        <p:nvSpPr>
          <p:cNvPr id="6" name="Shape 4"/>
          <p:cNvSpPr/>
          <p:nvPr/>
        </p:nvSpPr>
        <p:spPr>
          <a:xfrm>
            <a:off x="777240" y="2199132"/>
            <a:ext cx="2834640" cy="402336"/>
          </a:xfrm>
          <a:prstGeom prst="roundRect">
            <a:avLst>
              <a:gd name="adj" fmla="val 13636"/>
            </a:avLst>
          </a:prstGeom>
          <a:solidFill>
            <a:srgbClr val="1B2A4A"/>
          </a:solidFill>
          <a:ln/>
        </p:spPr>
      </p:sp>
      <p:sp>
        <p:nvSpPr>
          <p:cNvPr id="7" name="Text 5"/>
          <p:cNvSpPr/>
          <p:nvPr/>
        </p:nvSpPr>
        <p:spPr>
          <a:xfrm>
            <a:off x="777240" y="2199132"/>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/opsx:bulk-archive</a:t>
            </a:r>
            <a:endParaRPr lang="en-US" sz="1200" dirty="0"/>
          </a:p>
        </p:txBody>
      </p:sp>
      <p:sp>
        <p:nvSpPr>
          <p:cNvPr id="8" name="Text 6"/>
          <p:cNvSpPr/>
          <p:nvPr/>
        </p:nvSpPr>
        <p:spPr>
          <a:xfrm>
            <a:off x="3840480" y="1764792"/>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Coordinates multiple parallel change streams at once, detecting and resolving spec conflicts between them by checking what's actually implemented, which is the closest OpenSpec gets to explicit multi-agent orchestration.</a:t>
            </a:r>
            <a:endParaRPr lang="en-US" sz="1350" dirty="0"/>
          </a:p>
        </p:txBody>
      </p:sp>
      <p:sp>
        <p:nvSpPr>
          <p:cNvPr id="9" name="Shape 7"/>
          <p:cNvSpPr/>
          <p:nvPr/>
        </p:nvSpPr>
        <p:spPr>
          <a:xfrm>
            <a:off x="548640" y="3218688"/>
            <a:ext cx="11094415" cy="1417320"/>
          </a:xfrm>
          <a:prstGeom prst="roundRect">
            <a:avLst>
              <a:gd name="adj" fmla="val 5161"/>
            </a:avLst>
          </a:prstGeom>
          <a:solidFill>
            <a:srgbClr val="F2F5F9"/>
          </a:solidFill>
          <a:ln/>
        </p:spPr>
      </p:sp>
      <p:sp>
        <p:nvSpPr>
          <p:cNvPr id="10" name="Text 8"/>
          <p:cNvSpPr/>
          <p:nvPr/>
        </p:nvSpPr>
        <p:spPr>
          <a:xfrm>
            <a:off x="822960" y="3291840"/>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Worth knowing: </a:t>
            </a:r>
            <a:pPr indent="0" marL="0">
              <a:buNone/>
            </a:pPr>
            <a:r>
              <a:rPr lang="en-US" sz="1400" dirty="0">
                <a:solidFill>
                  <a:srgbClr val="1B2A4A"/>
                </a:solidFill>
                <a:latin typeface="Calibri" pitchFamily="34" charset="0"/>
                <a:ea typeface="Calibri" pitchFamily="34" charset="-122"/>
                <a:cs typeface="Calibri" pitchFamily="34" charset="-120"/>
              </a:rPr>
              <a:t>OpenSpec's beta "Stores" feature extends planning across multiple repos or teams, for organizations working past a single-repo scope, worth knowing about even though it's still evolving.</a:t>
            </a:r>
            <a:endParaRPr lang="en-US" sz="1400" dirty="0"/>
          </a:p>
        </p:txBody>
      </p:sp>
      <p:sp>
        <p:nvSpPr>
          <p:cNvPr id="11" name="Shape 9"/>
          <p:cNvSpPr/>
          <p:nvPr/>
        </p:nvSpPr>
        <p:spPr>
          <a:xfrm>
            <a:off x="548640" y="4745736"/>
            <a:ext cx="11094415" cy="1417320"/>
          </a:xfrm>
          <a:prstGeom prst="roundRect">
            <a:avLst>
              <a:gd name="adj" fmla="val 5161"/>
            </a:avLst>
          </a:prstGeom>
          <a:solidFill>
            <a:srgbClr val="F2F5F9"/>
          </a:solidFill>
          <a:ln/>
        </p:spPr>
      </p:sp>
      <p:sp>
        <p:nvSpPr>
          <p:cNvPr id="12" name="Text 10"/>
          <p:cNvSpPr/>
          <p:nvPr/>
        </p:nvSpPr>
        <p:spPr>
          <a:xfrm>
            <a:off x="822960" y="4818888"/>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Important distinction: </a:t>
            </a:r>
            <a:pPr indent="0" marL="0">
              <a:buNone/>
            </a:pPr>
            <a:r>
              <a:rPr lang="en-US" sz="1400" dirty="0">
                <a:solidFill>
                  <a:srgbClr val="1B2A4A"/>
                </a:solidFill>
                <a:latin typeface="Calibri" pitchFamily="34" charset="0"/>
                <a:ea typeface="Calibri" pitchFamily="34" charset="-122"/>
                <a:cs typeface="Calibri" pitchFamily="34" charset="-120"/>
              </a:rPr>
              <a:t>Genuine agent-to-agent delegation is a capability of the underlying coding agent (Claude Code subagents, Copilot Fleet mode), not a feature either SDD framework owns directly, so this is a distinction worth keeping straight when evaluating either tool.</a:t>
            </a:r>
            <a:endParaRPr lang="en-US" sz="1400" dirty="0"/>
          </a:p>
        </p:txBody>
      </p:sp>
      <p:sp>
        <p:nvSpPr>
          <p:cNvPr id="13" name="Text 1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14" name="Text 1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594360"/>
          </a:xfrm>
          <a:prstGeom prst="rect">
            <a:avLst/>
          </a:prstGeom>
          <a:noFill/>
          <a:ln/>
        </p:spPr>
        <p:txBody>
          <a:bodyPr wrap="square" rtlCol="0" anchor="ctr"/>
          <a:lstStyle/>
          <a:p>
            <a:pPr indent="0" marL="0">
              <a:buNone/>
            </a:pPr>
            <a:r>
              <a:rPr lang="en-US" sz="2600" b="1" dirty="0">
                <a:solidFill>
                  <a:srgbClr val="1B2A4A"/>
                </a:solidFill>
                <a:latin typeface="Times New Roman" pitchFamily="34" charset="0"/>
                <a:ea typeface="Times New Roman" pitchFamily="34" charset="-122"/>
                <a:cs typeface="Times New Roman" pitchFamily="34" charset="-120"/>
              </a:rPr>
              <a:t>Module 7 at a Glance</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43200"/>
                <a:gridCol w="4175608"/>
                <a:gridCol w="4175608"/>
              </a:tblGrid>
              <a:tr h="914400">
                <a:tc>
                  <a:txBody>
                    <a:bodyPr/>
                    <a:lstStyle/>
                    <a:p>
                      <a:pP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GitHub Spec Kit</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2E74B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OpenSpec</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C7293"/>
                    </a:solidFill>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Orchestration primitives</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fan-out / fan-in, gates, resumable state</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None (conflict-aware bulk archiving only)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Multi-stream support</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Workflow YAML with conditional logic</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/opsx:bulk-archive</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Agent delegation</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Not framework-owned (agent capability)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Not framework-owned (agent capability)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bl>
          </a:graphicData>
        </a:graphic>
      </p:graphicFrame>
      <p:sp>
        <p:nvSpPr>
          <p:cNvPr id="4" name="Text 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7</a:t>
            </a:r>
            <a:endParaRPr lang="en-US" sz="1000" dirty="0"/>
          </a:p>
        </p:txBody>
      </p:sp>
      <p:sp>
        <p:nvSpPr>
          <p:cNvPr id="5" name="Text 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48640"/>
            <a:ext cx="11094415" cy="640080"/>
          </a:xfrm>
          <a:prstGeom prst="rect">
            <a:avLst/>
          </a:prstGeom>
          <a:noFill/>
          <a:ln/>
        </p:spPr>
        <p:txBody>
          <a:bodyPr wrap="square" rtlCol="0" anchor="ctr"/>
          <a:lstStyle/>
          <a:p>
            <a:pPr indent="0" marL="0">
              <a:buNone/>
            </a:pPr>
            <a:r>
              <a:rPr lang="en-US" sz="3000" b="1" dirty="0">
                <a:solidFill>
                  <a:srgbClr val="FFFFFF"/>
                </a:solidFill>
                <a:latin typeface="Times New Roman" pitchFamily="34" charset="0"/>
                <a:ea typeface="Times New Roman" pitchFamily="34" charset="-122"/>
                <a:cs typeface="Times New Roman" pitchFamily="34" charset="-120"/>
              </a:rPr>
              <a:t>Key Takeaways</a:t>
            </a:r>
            <a:endParaRPr lang="en-US" sz="3000" dirty="0"/>
          </a:p>
        </p:txBody>
      </p:sp>
      <p:sp>
        <p:nvSpPr>
          <p:cNvPr id="3" name="Shape 1"/>
          <p:cNvSpPr/>
          <p:nvPr/>
        </p:nvSpPr>
        <p:spPr>
          <a:xfrm>
            <a:off x="548640" y="1627632"/>
            <a:ext cx="128016" cy="128016"/>
          </a:xfrm>
          <a:prstGeom prst="ellipse">
            <a:avLst/>
          </a:prstGeom>
          <a:solidFill>
            <a:srgbClr val="C0504D"/>
          </a:solidFill>
          <a:ln/>
        </p:spPr>
      </p:sp>
      <p:sp>
        <p:nvSpPr>
          <p:cNvPr id="4" name="Text 2"/>
          <p:cNvSpPr/>
          <p:nvPr/>
        </p:nvSpPr>
        <p:spPr>
          <a:xfrm>
            <a:off x="914400" y="14173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Parallelism is a property of the work, not a default setting, so it has to be decided case by case, not assumed.</a:t>
            </a:r>
            <a:endParaRPr lang="en-US" sz="1700" dirty="0"/>
          </a:p>
        </p:txBody>
      </p:sp>
      <p:sp>
        <p:nvSpPr>
          <p:cNvPr id="5" name="Shape 3"/>
          <p:cNvSpPr/>
          <p:nvPr/>
        </p:nvSpPr>
        <p:spPr>
          <a:xfrm>
            <a:off x="548640" y="2999232"/>
            <a:ext cx="128016" cy="128016"/>
          </a:xfrm>
          <a:prstGeom prst="ellipse">
            <a:avLst/>
          </a:prstGeom>
          <a:solidFill>
            <a:srgbClr val="C0504D"/>
          </a:solidFill>
          <a:ln/>
        </p:spPr>
      </p:sp>
      <p:sp>
        <p:nvSpPr>
          <p:cNvPr id="6" name="Text 4"/>
          <p:cNvSpPr/>
          <p:nvPr/>
        </p:nvSpPr>
        <p:spPr>
          <a:xfrm>
            <a:off x="914400" y="27889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Spec Kit's workflow engine gives you explicit orchestration primitives; OpenSpec's support is lighter-weight and less structured.</a:t>
            </a:r>
            <a:endParaRPr lang="en-US" sz="1700" dirty="0"/>
          </a:p>
        </p:txBody>
      </p:sp>
      <p:sp>
        <p:nvSpPr>
          <p:cNvPr id="7" name="Shape 5"/>
          <p:cNvSpPr/>
          <p:nvPr/>
        </p:nvSpPr>
        <p:spPr>
          <a:xfrm>
            <a:off x="548640" y="4370832"/>
            <a:ext cx="128016" cy="128016"/>
          </a:xfrm>
          <a:prstGeom prst="ellipse">
            <a:avLst/>
          </a:prstGeom>
          <a:solidFill>
            <a:srgbClr val="C0504D"/>
          </a:solidFill>
          <a:ln/>
        </p:spPr>
      </p:sp>
      <p:sp>
        <p:nvSpPr>
          <p:cNvPr id="8" name="Text 6"/>
          <p:cNvSpPr/>
          <p:nvPr/>
        </p:nvSpPr>
        <p:spPr>
          <a:xfrm>
            <a:off x="914400" y="41605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Delegation to a second agent is your coding agent's job, not the SDD framework's, so don't expect either framework to manage that hand-off for you.</a:t>
            </a:r>
            <a:endParaRPr lang="en-US" sz="1700" dirty="0"/>
          </a:p>
        </p:txBody>
      </p:sp>
      <p:sp>
        <p:nvSpPr>
          <p:cNvPr id="9" name="Text 7"/>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7</a:t>
            </a:r>
            <a:endParaRPr lang="en-US" sz="1000" dirty="0"/>
          </a:p>
        </p:txBody>
      </p:sp>
      <p:sp>
        <p:nvSpPr>
          <p:cNvPr id="10" name="Text 8"/>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2026-08-15T17:56:13Z</dcterms:created>
  <dcterms:modified xsi:type="dcterms:W3CDTF">2026-08-15T17:56:13Z</dcterms:modified>
</cp:coreProperties>
</file>