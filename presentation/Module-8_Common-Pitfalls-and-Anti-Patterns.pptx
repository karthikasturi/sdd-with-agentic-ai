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sp>
      <p:sp>
        <p:nvSpPr>
          <p:cNvPr id="3" name="Shape 1"/>
          <p:cNvSpPr/>
          <p:nvPr/>
        </p:nvSpPr>
        <p:spPr>
          <a:xfrm>
            <a:off x="548640" y="640080"/>
            <a:ext cx="2377440" cy="457200"/>
          </a:xfrm>
          <a:prstGeom prst="roundRect">
            <a:avLst>
              <a:gd name="adj" fmla="val 50000"/>
            </a:avLst>
          </a:prstGeom>
          <a:solidFill>
            <a:srgbClr val="C0504D"/>
          </a:solidFill>
          <a:ln/>
        </p:spPr>
      </p:sp>
      <p:sp>
        <p:nvSpPr>
          <p:cNvPr id="4" name="Text 2"/>
          <p:cNvSpPr/>
          <p:nvPr/>
        </p:nvSpPr>
        <p:spPr>
          <a:xfrm>
            <a:off x="548640" y="640080"/>
            <a:ext cx="237744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DAY 3</a:t>
            </a:r>
            <a:endParaRPr lang="en-US" sz="1400" dirty="0"/>
          </a:p>
        </p:txBody>
      </p:sp>
      <p:sp>
        <p:nvSpPr>
          <p:cNvPr id="5" name="Text 3"/>
          <p:cNvSpPr/>
          <p:nvPr/>
        </p:nvSpPr>
        <p:spPr>
          <a:xfrm>
            <a:off x="548640" y="1371600"/>
            <a:ext cx="11094415" cy="457200"/>
          </a:xfrm>
          <a:prstGeom prst="rect">
            <a:avLst/>
          </a:prstGeom>
          <a:noFill/>
          <a:ln/>
        </p:spPr>
        <p:txBody>
          <a:bodyPr wrap="square" rtlCol="0" anchor="ctr"/>
          <a:lstStyle/>
          <a:p>
            <a:pPr algn="l" indent="0" marL="0">
              <a:buNone/>
            </a:pPr>
            <a:r>
              <a:rPr lang="en-US" sz="1600" dirty="0">
                <a:solidFill>
                  <a:srgbClr val="9FB3D1"/>
                </a:solidFill>
                <a:latin typeface="Calibri" pitchFamily="34" charset="0"/>
                <a:ea typeface="Calibri" pitchFamily="34" charset="-122"/>
                <a:cs typeface="Calibri" pitchFamily="34" charset="-120"/>
              </a:rPr>
              <a:t>Module 8</a:t>
            </a:r>
            <a:endParaRPr lang="en-US" sz="1600" dirty="0"/>
          </a:p>
        </p:txBody>
      </p:sp>
      <p:sp>
        <p:nvSpPr>
          <p:cNvPr id="6" name="Text 4"/>
          <p:cNvSpPr/>
          <p:nvPr/>
        </p:nvSpPr>
        <p:spPr>
          <a:xfrm>
            <a:off x="548640" y="1828800"/>
            <a:ext cx="11094415" cy="2194560"/>
          </a:xfrm>
          <a:prstGeom prst="rect">
            <a:avLst/>
          </a:prstGeom>
          <a:noFill/>
          <a:ln/>
        </p:spPr>
        <p:txBody>
          <a:bodyPr wrap="square" rtlCol="0" anchor="t"/>
          <a:lstStyle/>
          <a:p>
            <a:pPr algn="l" indent="0" marL="0">
              <a:buNone/>
            </a:pPr>
            <a:r>
              <a:rPr lang="en-US" sz="4400" b="1" dirty="0">
                <a:solidFill>
                  <a:srgbClr val="FFFFFF"/>
                </a:solidFill>
                <a:latin typeface="Times New Roman" pitchFamily="34" charset="0"/>
                <a:ea typeface="Times New Roman" pitchFamily="34" charset="-122"/>
                <a:cs typeface="Times New Roman" pitchFamily="34" charset="-120"/>
              </a:rPr>
              <a:t>Common Pitfalls and Anti-Patterns</a:t>
            </a:r>
            <a:endParaRPr lang="en-US" sz="4400" dirty="0"/>
          </a:p>
        </p:txBody>
      </p:sp>
      <p:sp>
        <p:nvSpPr>
          <p:cNvPr id="7" name="Shape 5"/>
          <p:cNvSpPr/>
          <p:nvPr/>
        </p:nvSpPr>
        <p:spPr>
          <a:xfrm>
            <a:off x="548640" y="4206240"/>
            <a:ext cx="2011680" cy="0"/>
          </a:xfrm>
          <a:prstGeom prst="line">
            <a:avLst/>
          </a:prstGeom>
          <a:noFill/>
          <a:ln w="38100">
            <a:solidFill>
              <a:srgbClr val="C0504D"/>
            </a:solidFill>
            <a:prstDash val="solid"/>
          </a:ln>
        </p:spPr>
      </p:sp>
      <p:sp>
        <p:nvSpPr>
          <p:cNvPr id="8" name="Text 6"/>
          <p:cNvSpPr/>
          <p:nvPr/>
        </p:nvSpPr>
        <p:spPr>
          <a:xfrm>
            <a:off x="548640" y="4434840"/>
            <a:ext cx="10180015" cy="1280160"/>
          </a:xfrm>
          <a:prstGeom prst="rect">
            <a:avLst/>
          </a:prstGeom>
          <a:noFill/>
          <a:ln/>
        </p:spPr>
        <p:txBody>
          <a:bodyPr wrap="square" rtlCol="0" anchor="t"/>
          <a:lstStyle/>
          <a:p>
            <a:pPr algn="l" indent="0" marL="0">
              <a:buNone/>
            </a:pPr>
            <a:r>
              <a:rPr lang="en-US" sz="1800" i="1" dirty="0">
                <a:solidFill>
                  <a:srgbClr val="CADCFC"/>
                </a:solidFill>
                <a:latin typeface="Calibri" pitchFamily="34" charset="0"/>
                <a:ea typeface="Calibri" pitchFamily="34" charset="-122"/>
                <a:cs typeface="Calibri" pitchFamily="34" charset="-120"/>
              </a:rPr>
              <a:t>Most anti-patterns are earlier shortcuts catching up with you.</a:t>
            </a:r>
            <a:endParaRPr lang="en-US" sz="18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731520"/>
          </a:xfrm>
          <a:prstGeom prst="rect">
            <a:avLst/>
          </a:prstGeom>
          <a:noFill/>
          <a:ln/>
        </p:spPr>
        <p:txBody>
          <a:bodyPr wrap="square" rtlCol="0" anchor="ctr"/>
          <a:lstStyle/>
          <a:p>
            <a:pPr indent="0" marL="0">
              <a:buNone/>
            </a:pPr>
            <a:r>
              <a:rPr lang="en-US" sz="3200" b="1" dirty="0">
                <a:solidFill>
                  <a:srgbClr val="1B2A4A"/>
                </a:solidFill>
                <a:latin typeface="Times New Roman" pitchFamily="34" charset="0"/>
                <a:ea typeface="Times New Roman" pitchFamily="34" charset="-122"/>
                <a:cs typeface="Times New Roman" pitchFamily="34" charset="-120"/>
              </a:rPr>
              <a:t>What You'll Learn</a:t>
            </a:r>
            <a:endParaRPr lang="en-US" sz="3200" dirty="0"/>
          </a:p>
        </p:txBody>
      </p:sp>
      <p:sp>
        <p:nvSpPr>
          <p:cNvPr id="3" name="Shape 1"/>
          <p:cNvSpPr/>
          <p:nvPr/>
        </p:nvSpPr>
        <p:spPr>
          <a:xfrm>
            <a:off x="548640" y="1554480"/>
            <a:ext cx="502920" cy="502920"/>
          </a:xfrm>
          <a:prstGeom prst="ellipse">
            <a:avLst/>
          </a:prstGeom>
          <a:solidFill>
            <a:srgbClr val="2E74B5"/>
          </a:solidFill>
          <a:ln/>
        </p:spPr>
      </p:sp>
      <p:sp>
        <p:nvSpPr>
          <p:cNvPr id="4" name="Text 2"/>
          <p:cNvSpPr/>
          <p:nvPr/>
        </p:nvSpPr>
        <p:spPr>
          <a:xfrm>
            <a:off x="548640" y="155448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325880" y="1508760"/>
            <a:ext cx="10317175" cy="822960"/>
          </a:xfrm>
          <a:prstGeom prst="rect">
            <a:avLst/>
          </a:prstGeom>
          <a:noFill/>
          <a:ln/>
        </p:spPr>
        <p:txBody>
          <a:bodyPr wrap="square" rtlCol="0" anchor="ctr"/>
          <a:lstStyle/>
          <a:p>
            <a:pPr algn="l" indent="0" marL="0">
              <a:buNone/>
            </a:pPr>
            <a:r>
              <a:rPr lang="en-US" sz="1600" dirty="0">
                <a:solidFill>
                  <a:srgbClr val="1B2A4A"/>
                </a:solidFill>
                <a:latin typeface="Calibri" pitchFamily="34" charset="0"/>
                <a:ea typeface="Calibri" pitchFamily="34" charset="-122"/>
                <a:cs typeface="Calibri" pitchFamily="34" charset="-120"/>
              </a:rPr>
              <a:t>Recognize over-specifying and under-specifying and find the right level of detail</a:t>
            </a:r>
            <a:endParaRPr lang="en-US" sz="1600" dirty="0"/>
          </a:p>
        </p:txBody>
      </p:sp>
      <p:sp>
        <p:nvSpPr>
          <p:cNvPr id="6" name="Shape 4"/>
          <p:cNvSpPr/>
          <p:nvPr/>
        </p:nvSpPr>
        <p:spPr>
          <a:xfrm>
            <a:off x="548640" y="2514600"/>
            <a:ext cx="502920" cy="502920"/>
          </a:xfrm>
          <a:prstGeom prst="ellipse">
            <a:avLst/>
          </a:prstGeom>
          <a:solidFill>
            <a:srgbClr val="C0504D"/>
          </a:solidFill>
          <a:ln/>
        </p:spPr>
      </p:sp>
      <p:sp>
        <p:nvSpPr>
          <p:cNvPr id="7" name="Text 5"/>
          <p:cNvSpPr/>
          <p:nvPr/>
        </p:nvSpPr>
        <p:spPr>
          <a:xfrm>
            <a:off x="548640" y="251460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325880" y="2468880"/>
            <a:ext cx="10317175" cy="822960"/>
          </a:xfrm>
          <a:prstGeom prst="rect">
            <a:avLst/>
          </a:prstGeom>
          <a:noFill/>
          <a:ln/>
        </p:spPr>
        <p:txBody>
          <a:bodyPr wrap="square" rtlCol="0" anchor="ctr"/>
          <a:lstStyle/>
          <a:p>
            <a:pPr algn="l" indent="0" marL="0">
              <a:buNone/>
            </a:pPr>
            <a:r>
              <a:rPr lang="en-US" sz="1600" dirty="0">
                <a:solidFill>
                  <a:srgbClr val="1B2A4A"/>
                </a:solidFill>
                <a:latin typeface="Calibri" pitchFamily="34" charset="0"/>
                <a:ea typeface="Calibri" pitchFamily="34" charset="-122"/>
                <a:cs typeface="Calibri" pitchFamily="34" charset="-120"/>
              </a:rPr>
              <a:t>Weigh token and cost tradeoffs against rework avoided</a:t>
            </a:r>
            <a:endParaRPr lang="en-US" sz="1600" dirty="0"/>
          </a:p>
        </p:txBody>
      </p:sp>
      <p:sp>
        <p:nvSpPr>
          <p:cNvPr id="9" name="Shape 7"/>
          <p:cNvSpPr/>
          <p:nvPr/>
        </p:nvSpPr>
        <p:spPr>
          <a:xfrm>
            <a:off x="548640" y="3474720"/>
            <a:ext cx="502920" cy="502920"/>
          </a:xfrm>
          <a:prstGeom prst="ellipse">
            <a:avLst/>
          </a:prstGeom>
          <a:solidFill>
            <a:srgbClr val="2E74B5"/>
          </a:solidFill>
          <a:ln/>
        </p:spPr>
      </p:sp>
      <p:sp>
        <p:nvSpPr>
          <p:cNvPr id="10" name="Text 8"/>
          <p:cNvSpPr/>
          <p:nvPr/>
        </p:nvSpPr>
        <p:spPr>
          <a:xfrm>
            <a:off x="548640" y="347472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325880" y="3429000"/>
            <a:ext cx="10317175" cy="822960"/>
          </a:xfrm>
          <a:prstGeom prst="rect">
            <a:avLst/>
          </a:prstGeom>
          <a:noFill/>
          <a:ln/>
        </p:spPr>
        <p:txBody>
          <a:bodyPr wrap="square" rtlCol="0" anchor="ctr"/>
          <a:lstStyle/>
          <a:p>
            <a:pPr algn="l" indent="0" marL="0">
              <a:buNone/>
            </a:pPr>
            <a:r>
              <a:rPr lang="en-US" sz="1600" dirty="0">
                <a:solidFill>
                  <a:srgbClr val="1B2A4A"/>
                </a:solidFill>
                <a:latin typeface="Calibri" pitchFamily="34" charset="0"/>
                <a:ea typeface="Calibri" pitchFamily="34" charset="-122"/>
                <a:cs typeface="Calibri" pitchFamily="34" charset="-120"/>
              </a:rPr>
              <a:t>Learn from documented, framework-specific pitfalls in both tools</a:t>
            </a:r>
            <a:endParaRPr lang="en-US" sz="1600" dirty="0"/>
          </a:p>
        </p:txBody>
      </p:sp>
      <p:sp>
        <p:nvSpPr>
          <p:cNvPr id="12" name="Text 10"/>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8</a:t>
            </a:r>
            <a:endParaRPr lang="en-US" sz="1000" dirty="0"/>
          </a:p>
        </p:txBody>
      </p:sp>
      <p:sp>
        <p:nvSpPr>
          <p:cNvPr id="13" name="Text 11"/>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rtlCol="0" anchor="ctr"/>
          <a:lstStyle/>
          <a:p>
            <a:pPr indent="0" marL="0">
              <a:buNone/>
            </a:pPr>
            <a:r>
              <a:rPr lang="en-US" sz="1300" b="1" spc="100" kern="0" dirty="0">
                <a:solidFill>
                  <a:srgbClr val="C0504D"/>
                </a:solidFill>
                <a:latin typeface="Calibri" pitchFamily="34" charset="0"/>
                <a:ea typeface="Calibri" pitchFamily="34" charset="-122"/>
                <a:cs typeface="Calibri" pitchFamily="34" charset="-120"/>
              </a:rPr>
              <a:t>THE BALANCE</a:t>
            </a:r>
            <a:endParaRPr lang="en-US" sz="1300" dirty="0"/>
          </a:p>
        </p:txBody>
      </p:sp>
      <p:sp>
        <p:nvSpPr>
          <p:cNvPr id="3" name="Text 1"/>
          <p:cNvSpPr/>
          <p:nvPr/>
        </p:nvSpPr>
        <p:spPr>
          <a:xfrm>
            <a:off x="548640" y="713232"/>
            <a:ext cx="11094415" cy="640080"/>
          </a:xfrm>
          <a:prstGeom prst="rect">
            <a:avLst/>
          </a:prstGeom>
          <a:noFill/>
          <a:ln/>
        </p:spPr>
        <p:txBody>
          <a:bodyPr wrap="square" rtlCol="0" anchor="ctr"/>
          <a:lstStyle/>
          <a:p>
            <a:pPr indent="0" marL="0">
              <a:buNone/>
            </a:pPr>
            <a:r>
              <a:rPr lang="en-US" sz="2800" b="1" dirty="0">
                <a:solidFill>
                  <a:srgbClr val="1B2A4A"/>
                </a:solidFill>
                <a:latin typeface="Times New Roman" pitchFamily="34" charset="0"/>
                <a:ea typeface="Times New Roman" pitchFamily="34" charset="-122"/>
                <a:cs typeface="Times New Roman" pitchFamily="34" charset="-120"/>
              </a:rPr>
              <a:t>Over- and Under-Specifying</a:t>
            </a:r>
            <a:endParaRPr lang="en-US" sz="2800" dirty="0"/>
          </a:p>
        </p:txBody>
      </p:sp>
      <p:sp>
        <p:nvSpPr>
          <p:cNvPr id="4" name="Shape 2"/>
          <p:cNvSpPr/>
          <p:nvPr/>
        </p:nvSpPr>
        <p:spPr>
          <a:xfrm>
            <a:off x="548640" y="1600200"/>
            <a:ext cx="11094415" cy="2304288"/>
          </a:xfrm>
          <a:prstGeom prst="roundRect">
            <a:avLst>
              <a:gd name="adj" fmla="val 3175"/>
            </a:avLst>
          </a:prstGeom>
          <a:solidFill>
            <a:srgbClr val="F2F5F9"/>
          </a:solidFill>
          <a:ln/>
        </p:spPr>
      </p:sp>
      <p:sp>
        <p:nvSpPr>
          <p:cNvPr id="5" name="Shape 3"/>
          <p:cNvSpPr/>
          <p:nvPr/>
        </p:nvSpPr>
        <p:spPr>
          <a:xfrm>
            <a:off x="548640" y="1600200"/>
            <a:ext cx="73152" cy="2304288"/>
          </a:xfrm>
          <a:prstGeom prst="rect">
            <a:avLst/>
          </a:prstGeom>
          <a:solidFill>
            <a:srgbClr val="2E74B5"/>
          </a:solidFill>
          <a:ln/>
        </p:spPr>
      </p:sp>
      <p:sp>
        <p:nvSpPr>
          <p:cNvPr id="6" name="Text 4"/>
          <p:cNvSpPr/>
          <p:nvPr/>
        </p:nvSpPr>
        <p:spPr>
          <a:xfrm>
            <a:off x="822960" y="167335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Too much detail in a spec or plan slows everyone down and gets stale fast; too little pushes ambiguity downstream where it's more expensive to fix, so the goal is the least detail that still makes the requirement testable.</a:t>
            </a:r>
            <a:endParaRPr lang="en-US" sz="1500" dirty="0"/>
          </a:p>
        </p:txBody>
      </p:sp>
      <p:sp>
        <p:nvSpPr>
          <p:cNvPr id="7" name="Shape 5"/>
          <p:cNvSpPr/>
          <p:nvPr/>
        </p:nvSpPr>
        <p:spPr>
          <a:xfrm>
            <a:off x="548640" y="4069080"/>
            <a:ext cx="11094415" cy="2304288"/>
          </a:xfrm>
          <a:prstGeom prst="roundRect">
            <a:avLst>
              <a:gd name="adj" fmla="val 3175"/>
            </a:avLst>
          </a:prstGeom>
          <a:solidFill>
            <a:srgbClr val="F2F5F9"/>
          </a:solidFill>
          <a:ln/>
        </p:spPr>
      </p:sp>
      <p:sp>
        <p:nvSpPr>
          <p:cNvPr id="8" name="Shape 6"/>
          <p:cNvSpPr/>
          <p:nvPr/>
        </p:nvSpPr>
        <p:spPr>
          <a:xfrm>
            <a:off x="548640" y="4069080"/>
            <a:ext cx="73152" cy="2304288"/>
          </a:xfrm>
          <a:prstGeom prst="rect">
            <a:avLst/>
          </a:prstGeom>
          <a:solidFill>
            <a:srgbClr val="C0504D"/>
          </a:solidFill>
          <a:ln/>
        </p:spPr>
      </p:sp>
      <p:sp>
        <p:nvSpPr>
          <p:cNvPr id="9" name="Text 7"/>
          <p:cNvSpPr/>
          <p:nvPr/>
        </p:nvSpPr>
        <p:spPr>
          <a:xfrm>
            <a:off x="822960" y="414223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A thin constitution or a skipped clarify pass usually shows up here first: problems from earlier modules resurface as anti-patterns later, which is why this module is really a look back at the whole lifecycle.</a:t>
            </a:r>
            <a:endParaRPr lang="en-US" sz="1500" dirty="0"/>
          </a:p>
        </p:txBody>
      </p:sp>
      <p:sp>
        <p:nvSpPr>
          <p:cNvPr id="10" name="Text 8"/>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8</a:t>
            </a:r>
            <a:endParaRPr lang="en-US" sz="1000" dirty="0"/>
          </a:p>
        </p:txBody>
      </p:sp>
      <p:sp>
        <p:nvSpPr>
          <p:cNvPr id="11" name="Text 9"/>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rtlCol="0" anchor="ctr"/>
          <a:lstStyle/>
          <a:p>
            <a:pPr indent="0" marL="0">
              <a:buNone/>
            </a:pPr>
            <a:r>
              <a:rPr lang="en-US" sz="1300" b="1" spc="100" kern="0" dirty="0">
                <a:solidFill>
                  <a:srgbClr val="C0504D"/>
                </a:solidFill>
                <a:latin typeface="Calibri" pitchFamily="34" charset="0"/>
                <a:ea typeface="Calibri" pitchFamily="34" charset="-122"/>
                <a:cs typeface="Calibri" pitchFamily="34" charset="-120"/>
              </a:rPr>
              <a:t>REVISITED</a:t>
            </a:r>
            <a:endParaRPr lang="en-US" sz="1300" dirty="0"/>
          </a:p>
        </p:txBody>
      </p:sp>
      <p:sp>
        <p:nvSpPr>
          <p:cNvPr id="3" name="Text 1"/>
          <p:cNvSpPr/>
          <p:nvPr/>
        </p:nvSpPr>
        <p:spPr>
          <a:xfrm>
            <a:off x="548640" y="713232"/>
            <a:ext cx="11094415" cy="640080"/>
          </a:xfrm>
          <a:prstGeom prst="rect">
            <a:avLst/>
          </a:prstGeom>
          <a:noFill/>
          <a:ln/>
        </p:spPr>
        <p:txBody>
          <a:bodyPr wrap="square" rtlCol="0" anchor="ctr"/>
          <a:lstStyle/>
          <a:p>
            <a:pPr indent="0" marL="0">
              <a:buNone/>
            </a:pPr>
            <a:r>
              <a:rPr lang="en-US" sz="2800" b="1" dirty="0">
                <a:solidFill>
                  <a:srgbClr val="1B2A4A"/>
                </a:solidFill>
                <a:latin typeface="Times New Roman" pitchFamily="34" charset="0"/>
                <a:ea typeface="Times New Roman" pitchFamily="34" charset="-122"/>
                <a:cs typeface="Times New Roman" pitchFamily="34" charset="-120"/>
              </a:rPr>
              <a:t>Token and Cost Tradeoffs</a:t>
            </a:r>
            <a:endParaRPr lang="en-US" sz="2800" dirty="0"/>
          </a:p>
        </p:txBody>
      </p:sp>
      <p:sp>
        <p:nvSpPr>
          <p:cNvPr id="4" name="Shape 2"/>
          <p:cNvSpPr/>
          <p:nvPr/>
        </p:nvSpPr>
        <p:spPr>
          <a:xfrm>
            <a:off x="548640" y="1600200"/>
            <a:ext cx="11094415" cy="2304288"/>
          </a:xfrm>
          <a:prstGeom prst="roundRect">
            <a:avLst>
              <a:gd name="adj" fmla="val 3175"/>
            </a:avLst>
          </a:prstGeom>
          <a:solidFill>
            <a:srgbClr val="F2F5F9"/>
          </a:solidFill>
          <a:ln/>
        </p:spPr>
      </p:sp>
      <p:sp>
        <p:nvSpPr>
          <p:cNvPr id="5" name="Shape 3"/>
          <p:cNvSpPr/>
          <p:nvPr/>
        </p:nvSpPr>
        <p:spPr>
          <a:xfrm>
            <a:off x="548640" y="1600200"/>
            <a:ext cx="73152" cy="2304288"/>
          </a:xfrm>
          <a:prstGeom prst="rect">
            <a:avLst/>
          </a:prstGeom>
          <a:solidFill>
            <a:srgbClr val="2E74B5"/>
          </a:solidFill>
          <a:ln/>
        </p:spPr>
      </p:sp>
      <p:sp>
        <p:nvSpPr>
          <p:cNvPr id="6" name="Text 4"/>
          <p:cNvSpPr/>
          <p:nvPr/>
        </p:nvSpPr>
        <p:spPr>
          <a:xfrm>
            <a:off x="822960" y="167335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More tokens spent up front on a clear spec and plan is typically offset by far fewer rework cycles, the same tradeoff introduced in Module 5, now viewed with the benefit of hindsight.</a:t>
            </a:r>
            <a:endParaRPr lang="en-US" sz="1500" dirty="0"/>
          </a:p>
        </p:txBody>
      </p:sp>
      <p:sp>
        <p:nvSpPr>
          <p:cNvPr id="7" name="Shape 5"/>
          <p:cNvSpPr/>
          <p:nvPr/>
        </p:nvSpPr>
        <p:spPr>
          <a:xfrm>
            <a:off x="548640" y="4069080"/>
            <a:ext cx="11094415" cy="2304288"/>
          </a:xfrm>
          <a:prstGeom prst="roundRect">
            <a:avLst>
              <a:gd name="adj" fmla="val 3175"/>
            </a:avLst>
          </a:prstGeom>
          <a:solidFill>
            <a:srgbClr val="F2F5F9"/>
          </a:solidFill>
          <a:ln/>
        </p:spPr>
      </p:sp>
      <p:sp>
        <p:nvSpPr>
          <p:cNvPr id="8" name="Shape 6"/>
          <p:cNvSpPr/>
          <p:nvPr/>
        </p:nvSpPr>
        <p:spPr>
          <a:xfrm>
            <a:off x="548640" y="4069080"/>
            <a:ext cx="73152" cy="2304288"/>
          </a:xfrm>
          <a:prstGeom prst="rect">
            <a:avLst/>
          </a:prstGeom>
          <a:solidFill>
            <a:srgbClr val="C0504D"/>
          </a:solidFill>
          <a:ln/>
        </p:spPr>
      </p:sp>
      <p:sp>
        <p:nvSpPr>
          <p:cNvPr id="9" name="Text 7"/>
          <p:cNvSpPr/>
          <p:nvPr/>
        </p:nvSpPr>
        <p:spPr>
          <a:xfrm>
            <a:off x="822960" y="414223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Treat this as a deliberate tradeoff to manage, not a cost to minimize blindly, since minimizing spend on planning is often what causes the expensive rework in the first place.</a:t>
            </a:r>
            <a:endParaRPr lang="en-US" sz="1500" dirty="0"/>
          </a:p>
        </p:txBody>
      </p:sp>
      <p:sp>
        <p:nvSpPr>
          <p:cNvPr id="10" name="Text 8"/>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8</a:t>
            </a:r>
            <a:endParaRPr lang="en-US" sz="1000" dirty="0"/>
          </a:p>
        </p:txBody>
      </p:sp>
      <p:sp>
        <p:nvSpPr>
          <p:cNvPr id="11" name="Text 9"/>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640080"/>
            <a:ext cx="11094415" cy="320040"/>
          </a:xfrm>
          <a:prstGeom prst="rect">
            <a:avLst/>
          </a:prstGeom>
          <a:noFill/>
          <a:ln/>
        </p:spPr>
        <p:txBody>
          <a:bodyPr wrap="square" rtlCol="0" anchor="ctr"/>
          <a:lstStyle/>
          <a:p>
            <a:pPr indent="0" marL="0">
              <a:buNone/>
            </a:pPr>
            <a:r>
              <a:rPr lang="en-US" sz="1300" b="1" spc="100" kern="0" dirty="0">
                <a:solidFill>
                  <a:srgbClr val="9FB3D1"/>
                </a:solidFill>
                <a:latin typeface="Calibri" pitchFamily="34" charset="0"/>
                <a:ea typeface="Calibri" pitchFamily="34" charset="-122"/>
                <a:cs typeface="Calibri" pitchFamily="34" charset="-120"/>
              </a:rPr>
              <a:t>WHY IT MATTERS</a:t>
            </a:r>
            <a:endParaRPr lang="en-US" sz="1300" dirty="0"/>
          </a:p>
        </p:txBody>
      </p:sp>
      <p:sp>
        <p:nvSpPr>
          <p:cNvPr id="3" name="Text 1"/>
          <p:cNvSpPr/>
          <p:nvPr/>
        </p:nvSpPr>
        <p:spPr>
          <a:xfrm>
            <a:off x="548640" y="1051560"/>
            <a:ext cx="10180015" cy="1645920"/>
          </a:xfrm>
          <a:prstGeom prst="rect">
            <a:avLst/>
          </a:prstGeom>
          <a:noFill/>
          <a:ln/>
        </p:spPr>
        <p:txBody>
          <a:bodyPr wrap="square" rtlCol="0" anchor="t"/>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Most anti-patterns are visible in hindsight, rarely in the moment.</a:t>
            </a:r>
            <a:endParaRPr lang="en-US" sz="2800" dirty="0"/>
          </a:p>
        </p:txBody>
      </p:sp>
      <p:sp>
        <p:nvSpPr>
          <p:cNvPr id="4" name="Shape 2"/>
          <p:cNvSpPr/>
          <p:nvPr/>
        </p:nvSpPr>
        <p:spPr>
          <a:xfrm>
            <a:off x="548640" y="3017520"/>
            <a:ext cx="11094415" cy="713232"/>
          </a:xfrm>
          <a:prstGeom prst="roundRect">
            <a:avLst>
              <a:gd name="adj" fmla="val 10256"/>
            </a:avLst>
          </a:prstGeom>
          <a:solidFill>
            <a:srgbClr val="233A63"/>
          </a:solidFill>
          <a:ln/>
        </p:spPr>
      </p:sp>
      <p:sp>
        <p:nvSpPr>
          <p:cNvPr id="5" name="Text 3"/>
          <p:cNvSpPr/>
          <p:nvPr/>
        </p:nvSpPr>
        <p:spPr>
          <a:xfrm>
            <a:off x="822960" y="3017520"/>
            <a:ext cx="10545775" cy="713232"/>
          </a:xfrm>
          <a:prstGeom prst="rect">
            <a:avLst/>
          </a:prstGeom>
          <a:noFill/>
          <a:ln/>
        </p:spPr>
        <p:txBody>
          <a:bodyPr wrap="square" rtlCol="0" anchor="ctr"/>
          <a:lstStyle/>
          <a:p>
            <a:pPr indent="0" marL="0">
              <a:buNone/>
            </a:pPr>
            <a:r>
              <a:rPr lang="en-US" sz="1500" dirty="0">
                <a:solidFill>
                  <a:srgbClr val="E4ECFA"/>
                </a:solidFill>
                <a:latin typeface="Calibri" pitchFamily="34" charset="0"/>
                <a:ea typeface="Calibri" pitchFamily="34" charset="-122"/>
                <a:cs typeface="Calibri" pitchFamily="34" charset="-120"/>
              </a:rPr>
              <a:t>The team that skips a gate almost never notices until the cost shows up downstream, often several modules, or several weeks, later.</a:t>
            </a:r>
            <a:endParaRPr lang="en-US" sz="1500" dirty="0"/>
          </a:p>
        </p:txBody>
      </p:sp>
      <p:sp>
        <p:nvSpPr>
          <p:cNvPr id="6" name="Shape 4"/>
          <p:cNvSpPr/>
          <p:nvPr/>
        </p:nvSpPr>
        <p:spPr>
          <a:xfrm>
            <a:off x="548640" y="3886200"/>
            <a:ext cx="11094415" cy="713232"/>
          </a:xfrm>
          <a:prstGeom prst="roundRect">
            <a:avLst>
              <a:gd name="adj" fmla="val 10256"/>
            </a:avLst>
          </a:prstGeom>
          <a:solidFill>
            <a:srgbClr val="233A63"/>
          </a:solidFill>
          <a:ln/>
        </p:spPr>
      </p:sp>
      <p:sp>
        <p:nvSpPr>
          <p:cNvPr id="7" name="Text 5"/>
          <p:cNvSpPr/>
          <p:nvPr/>
        </p:nvSpPr>
        <p:spPr>
          <a:xfrm>
            <a:off x="822960" y="3886200"/>
            <a:ext cx="10545775" cy="713232"/>
          </a:xfrm>
          <a:prstGeom prst="rect">
            <a:avLst/>
          </a:prstGeom>
          <a:noFill/>
          <a:ln/>
        </p:spPr>
        <p:txBody>
          <a:bodyPr wrap="square" rtlCol="0" anchor="ctr"/>
          <a:lstStyle/>
          <a:p>
            <a:pPr indent="0" marL="0">
              <a:buNone/>
            </a:pPr>
            <a:r>
              <a:rPr lang="en-US" sz="1500" dirty="0">
                <a:solidFill>
                  <a:srgbClr val="E4ECFA"/>
                </a:solidFill>
                <a:latin typeface="Calibri" pitchFamily="34" charset="0"/>
                <a:ea typeface="Calibri" pitchFamily="34" charset="-122"/>
                <a:cs typeface="Calibri" pitchFamily="34" charset="-120"/>
              </a:rPr>
              <a:t>Treat every skipped step as a deliberate risk decision, not a shortcut, so at least it's a choice the team made knowingly, not one that happened by default.</a:t>
            </a:r>
            <a:endParaRPr lang="en-US" sz="1500" dirty="0"/>
          </a:p>
        </p:txBody>
      </p:sp>
      <p:sp>
        <p:nvSpPr>
          <p:cNvPr id="8" name="Text 6"/>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8</a:t>
            </a:r>
            <a:endParaRPr lang="en-US" sz="1000" dirty="0"/>
          </a:p>
        </p:txBody>
      </p:sp>
      <p:sp>
        <p:nvSpPr>
          <p:cNvPr id="9" name="Text 7"/>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74B5"/>
        </a:solidFill>
      </p:bgPr>
    </p:bg>
    <p:spTree>
      <p:nvGrpSpPr>
        <p:cNvPr id="1" name=""/>
        <p:cNvGrpSpPr/>
        <p:nvPr/>
      </p:nvGrpSpPr>
      <p:grpSpPr>
        <a:xfrm>
          <a:off x="0" y="0"/>
          <a:ext cx="0" cy="0"/>
          <a:chOff x="0" y="0"/>
          <a:chExt cx="0" cy="0"/>
        </a:xfrm>
      </p:grpSpPr>
      <p:sp>
        <p:nvSpPr>
          <p:cNvPr id="2" name="Text 0"/>
          <p:cNvSpPr/>
          <p:nvPr/>
        </p:nvSpPr>
        <p:spPr>
          <a:xfrm>
            <a:off x="548640" y="2468880"/>
            <a:ext cx="11094415" cy="365760"/>
          </a:xfrm>
          <a:prstGeom prst="rect">
            <a:avLst/>
          </a:prstGeom>
          <a:noFill/>
          <a:ln/>
        </p:spPr>
        <p:txBody>
          <a:bodyPr wrap="square" rtlCol="0" anchor="ctr"/>
          <a:lstStyle/>
          <a:p>
            <a:pPr algn="l" indent="0" marL="0">
              <a:buNone/>
            </a:pPr>
            <a:r>
              <a:rPr lang="en-US" sz="1400" b="1" spc="200" kern="0" dirty="0">
                <a:solidFill>
                  <a:srgbClr val="D8E6F5"/>
                </a:solidFill>
                <a:latin typeface="Calibri" pitchFamily="34" charset="0"/>
                <a:ea typeface="Calibri" pitchFamily="34" charset="-122"/>
                <a:cs typeface="Calibri" pitchFamily="34" charset="-120"/>
              </a:rPr>
              <a:t>APPLYING THE CONCEPTS</a:t>
            </a:r>
            <a:endParaRPr lang="en-US" sz="1400" dirty="0"/>
          </a:p>
        </p:txBody>
      </p:sp>
      <p:sp>
        <p:nvSpPr>
          <p:cNvPr id="3" name="Text 1"/>
          <p:cNvSpPr/>
          <p:nvPr/>
        </p:nvSpPr>
        <p:spPr>
          <a:xfrm>
            <a:off x="548640" y="2834640"/>
            <a:ext cx="11094415" cy="1188720"/>
          </a:xfrm>
          <a:prstGeom prst="rect">
            <a:avLst/>
          </a:prstGeom>
          <a:noFill/>
          <a:ln/>
        </p:spPr>
        <p:txBody>
          <a:bodyPr wrap="square" rtlCol="0" anchor="ctr"/>
          <a:lstStyle/>
          <a:p>
            <a:pPr algn="l" indent="0" marL="0">
              <a:buNone/>
            </a:pPr>
            <a:r>
              <a:rPr lang="en-US" sz="4000" b="1" dirty="0">
                <a:solidFill>
                  <a:srgbClr val="FFFFFF"/>
                </a:solidFill>
                <a:latin typeface="Times New Roman" pitchFamily="34" charset="0"/>
                <a:ea typeface="Times New Roman" pitchFamily="34" charset="-122"/>
                <a:cs typeface="Times New Roman" pitchFamily="34" charset="-120"/>
              </a:rPr>
              <a:t>GitHub Spec Kit</a:t>
            </a:r>
            <a:endParaRPr lang="en-US" sz="4000" dirty="0"/>
          </a:p>
        </p:txBody>
      </p:sp>
      <p:sp>
        <p:nvSpPr>
          <p:cNvPr id="4" name="Text 2"/>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8</a:t>
            </a:r>
            <a:endParaRPr lang="en-US" sz="1000" dirty="0"/>
          </a:p>
        </p:txBody>
      </p:sp>
      <p:sp>
        <p:nvSpPr>
          <p:cNvPr id="5" name="Text 3"/>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554480" cy="365760"/>
          </a:xfrm>
          <a:prstGeom prst="roundRect">
            <a:avLst>
              <a:gd name="adj" fmla="val 50000"/>
            </a:avLst>
          </a:prstGeom>
          <a:solidFill>
            <a:srgbClr val="2E74B5"/>
          </a:solidFill>
          <a:ln/>
        </p:spPr>
      </p:sp>
      <p:sp>
        <p:nvSpPr>
          <p:cNvPr id="3" name="Text 1"/>
          <p:cNvSpPr/>
          <p:nvPr/>
        </p:nvSpPr>
        <p:spPr>
          <a:xfrm>
            <a:off x="548640" y="457200"/>
            <a:ext cx="15544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SPEC KIT</a:t>
            </a:r>
            <a:endParaRPr lang="en-US" sz="1200" dirty="0"/>
          </a:p>
        </p:txBody>
      </p:sp>
      <p:sp>
        <p:nvSpPr>
          <p:cNvPr id="4" name="Text 2"/>
          <p:cNvSpPr/>
          <p:nvPr/>
        </p:nvSpPr>
        <p:spPr>
          <a:xfrm>
            <a:off x="548640" y="914400"/>
            <a:ext cx="11094415" cy="594360"/>
          </a:xfrm>
          <a:prstGeom prst="rect">
            <a:avLst/>
          </a:prstGeom>
          <a:noFill/>
          <a:ln/>
        </p:spPr>
        <p:txBody>
          <a:bodyPr wrap="square" rtlCol="0" anchor="ctr"/>
          <a:lstStyle/>
          <a:p>
            <a:pPr indent="0" marL="0">
              <a:buNone/>
            </a:pPr>
            <a:r>
              <a:rPr lang="en-US" sz="2500" b="1" dirty="0">
                <a:solidFill>
                  <a:srgbClr val="1B2A4A"/>
                </a:solidFill>
                <a:latin typeface="Times New Roman" pitchFamily="34" charset="0"/>
                <a:ea typeface="Times New Roman" pitchFamily="34" charset="-122"/>
                <a:cs typeface="Times New Roman" pitchFamily="34" charset="-120"/>
              </a:rPr>
              <a:t>Where Teams Get Stuck</a:t>
            </a:r>
            <a:endParaRPr lang="en-US" sz="2500" dirty="0"/>
          </a:p>
        </p:txBody>
      </p:sp>
      <p:sp>
        <p:nvSpPr>
          <p:cNvPr id="5" name="Shape 3"/>
          <p:cNvSpPr/>
          <p:nvPr/>
        </p:nvSpPr>
        <p:spPr>
          <a:xfrm>
            <a:off x="548640" y="1691640"/>
            <a:ext cx="11094415" cy="1417320"/>
          </a:xfrm>
          <a:prstGeom prst="roundRect">
            <a:avLst>
              <a:gd name="adj" fmla="val 5161"/>
            </a:avLst>
          </a:prstGeom>
          <a:solidFill>
            <a:srgbClr val="F2F5F9"/>
          </a:solidFill>
          <a:ln/>
        </p:spPr>
      </p:sp>
      <p:sp>
        <p:nvSpPr>
          <p:cNvPr id="6" name="Text 4"/>
          <p:cNvSpPr/>
          <p:nvPr/>
        </p:nvSpPr>
        <p:spPr>
          <a:xfrm>
            <a:off x="822960" y="1764792"/>
            <a:ext cx="10545775" cy="1271016"/>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Stale checklist: </a:t>
            </a:r>
            <a:pPr indent="0" marL="0">
              <a:buNone/>
            </a:pPr>
            <a:r>
              <a:rPr lang="en-US" sz="1400" dirty="0">
                <a:solidFill>
                  <a:srgbClr val="1B2A4A"/>
                </a:solidFill>
                <a:latin typeface="Calibri" pitchFamily="34" charset="0"/>
                <a:ea typeface="Calibri" pitchFamily="34" charset="-122"/>
                <a:cs typeface="Calibri" pitchFamily="34" charset="-120"/>
              </a:rPr>
              <a:t>Treating a passed checklist as permanently done rather than re-running it after changes: a checklist reflects the spec at the moment it was generated, and later edits can silently invalidate it, so a checklist needs revisiting whenever the spec it was built from changes.</a:t>
            </a:r>
            <a:endParaRPr lang="en-US" sz="1400" dirty="0"/>
          </a:p>
        </p:txBody>
      </p:sp>
      <p:sp>
        <p:nvSpPr>
          <p:cNvPr id="7" name="Shape 5"/>
          <p:cNvSpPr/>
          <p:nvPr/>
        </p:nvSpPr>
        <p:spPr>
          <a:xfrm>
            <a:off x="548640" y="3218688"/>
            <a:ext cx="11094415" cy="1417320"/>
          </a:xfrm>
          <a:prstGeom prst="roundRect">
            <a:avLst>
              <a:gd name="adj" fmla="val 5161"/>
            </a:avLst>
          </a:prstGeom>
          <a:solidFill>
            <a:srgbClr val="F2F5F9"/>
          </a:solidFill>
          <a:ln/>
        </p:spPr>
      </p:sp>
      <p:sp>
        <p:nvSpPr>
          <p:cNvPr id="8" name="Text 6"/>
          <p:cNvSpPr/>
          <p:nvPr/>
        </p:nvSpPr>
        <p:spPr>
          <a:xfrm>
            <a:off x="822960" y="3291840"/>
            <a:ext cx="10545775" cy="1271016"/>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Ignoring analyze: </a:t>
            </a:r>
            <a:pPr indent="0" marL="0">
              <a:buNone/>
            </a:pPr>
            <a:r>
              <a:rPr lang="en-US" sz="1400" dirty="0">
                <a:solidFill>
                  <a:srgbClr val="1B2A4A"/>
                </a:solidFill>
                <a:latin typeface="Calibri" pitchFamily="34" charset="0"/>
                <a:ea typeface="Calibri" pitchFamily="34" charset="-122"/>
                <a:cs typeface="Calibri" pitchFamily="34" charset="-120"/>
              </a:rPr>
              <a:t>Ignoring /speckit.analyze findings instead of returning to the step that owns them (specify or clarify for requirement problems, plan for design problems) lets small inconsistencies compound into much larger ones by the time implementation is done.</a:t>
            </a:r>
            <a:endParaRPr lang="en-US" sz="1400" dirty="0"/>
          </a:p>
        </p:txBody>
      </p:sp>
      <p:sp>
        <p:nvSpPr>
          <p:cNvPr id="9" name="Text 7"/>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8</a:t>
            </a:r>
            <a:endParaRPr lang="en-US" sz="1000" dirty="0"/>
          </a:p>
        </p:txBody>
      </p:sp>
      <p:sp>
        <p:nvSpPr>
          <p:cNvPr id="10" name="Text 8"/>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2468880"/>
            <a:ext cx="11094415" cy="365760"/>
          </a:xfrm>
          <a:prstGeom prst="rect">
            <a:avLst/>
          </a:prstGeom>
          <a:noFill/>
          <a:ln/>
        </p:spPr>
        <p:txBody>
          <a:bodyPr wrap="square" rtlCol="0" anchor="ctr"/>
          <a:lstStyle/>
          <a:p>
            <a:pPr algn="l" indent="0" marL="0">
              <a:buNone/>
            </a:pPr>
            <a:r>
              <a:rPr lang="en-US" sz="1400" b="1" spc="200" kern="0" dirty="0">
                <a:solidFill>
                  <a:srgbClr val="D8E6F5"/>
                </a:solidFill>
                <a:latin typeface="Calibri" pitchFamily="34" charset="0"/>
                <a:ea typeface="Calibri" pitchFamily="34" charset="-122"/>
                <a:cs typeface="Calibri" pitchFamily="34" charset="-120"/>
              </a:rPr>
              <a:t>APPLYING THE CONCEPTS</a:t>
            </a:r>
            <a:endParaRPr lang="en-US" sz="1400" dirty="0"/>
          </a:p>
        </p:txBody>
      </p:sp>
      <p:sp>
        <p:nvSpPr>
          <p:cNvPr id="3" name="Text 1"/>
          <p:cNvSpPr/>
          <p:nvPr/>
        </p:nvSpPr>
        <p:spPr>
          <a:xfrm>
            <a:off x="548640" y="2834640"/>
            <a:ext cx="11094415" cy="1188720"/>
          </a:xfrm>
          <a:prstGeom prst="rect">
            <a:avLst/>
          </a:prstGeom>
          <a:noFill/>
          <a:ln/>
        </p:spPr>
        <p:txBody>
          <a:bodyPr wrap="square" rtlCol="0" anchor="ctr"/>
          <a:lstStyle/>
          <a:p>
            <a:pPr algn="l" indent="0" marL="0">
              <a:buNone/>
            </a:pPr>
            <a:r>
              <a:rPr lang="en-US" sz="4000" b="1" dirty="0">
                <a:solidFill>
                  <a:srgbClr val="FFFFFF"/>
                </a:solidFill>
                <a:latin typeface="Times New Roman" pitchFamily="34" charset="0"/>
                <a:ea typeface="Times New Roman" pitchFamily="34" charset="-122"/>
                <a:cs typeface="Times New Roman" pitchFamily="34" charset="-120"/>
              </a:rPr>
              <a:t>OpenSpec</a:t>
            </a:r>
            <a:endParaRPr lang="en-US" sz="4000" dirty="0"/>
          </a:p>
        </p:txBody>
      </p:sp>
      <p:sp>
        <p:nvSpPr>
          <p:cNvPr id="4" name="Text 2"/>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8</a:t>
            </a:r>
            <a:endParaRPr lang="en-US" sz="1000" dirty="0"/>
          </a:p>
        </p:txBody>
      </p:sp>
      <p:sp>
        <p:nvSpPr>
          <p:cNvPr id="5" name="Text 3"/>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554480" cy="365760"/>
          </a:xfrm>
          <a:prstGeom prst="roundRect">
            <a:avLst>
              <a:gd name="adj" fmla="val 50000"/>
            </a:avLst>
          </a:prstGeom>
          <a:solidFill>
            <a:srgbClr val="1C7293"/>
          </a:solidFill>
          <a:ln/>
        </p:spPr>
      </p:sp>
      <p:sp>
        <p:nvSpPr>
          <p:cNvPr id="3" name="Text 1"/>
          <p:cNvSpPr/>
          <p:nvPr/>
        </p:nvSpPr>
        <p:spPr>
          <a:xfrm>
            <a:off x="548640" y="457200"/>
            <a:ext cx="15544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OPENSPEC</a:t>
            </a:r>
            <a:endParaRPr lang="en-US" sz="1200" dirty="0"/>
          </a:p>
        </p:txBody>
      </p:sp>
      <p:sp>
        <p:nvSpPr>
          <p:cNvPr id="4" name="Text 2"/>
          <p:cNvSpPr/>
          <p:nvPr/>
        </p:nvSpPr>
        <p:spPr>
          <a:xfrm>
            <a:off x="548640" y="914400"/>
            <a:ext cx="11094415" cy="594360"/>
          </a:xfrm>
          <a:prstGeom prst="rect">
            <a:avLst/>
          </a:prstGeom>
          <a:noFill/>
          <a:ln/>
        </p:spPr>
        <p:txBody>
          <a:bodyPr wrap="square" rtlCol="0" anchor="ctr"/>
          <a:lstStyle/>
          <a:p>
            <a:pPr indent="0" marL="0">
              <a:buNone/>
            </a:pPr>
            <a:r>
              <a:rPr lang="en-US" sz="2500" b="1" dirty="0">
                <a:solidFill>
                  <a:srgbClr val="1B2A4A"/>
                </a:solidFill>
                <a:latin typeface="Times New Roman" pitchFamily="34" charset="0"/>
                <a:ea typeface="Times New Roman" pitchFamily="34" charset="-122"/>
                <a:cs typeface="Times New Roman" pitchFamily="34" charset="-120"/>
              </a:rPr>
              <a:t>Documented Failure Modes</a:t>
            </a:r>
            <a:endParaRPr lang="en-US" sz="2500" dirty="0"/>
          </a:p>
        </p:txBody>
      </p:sp>
      <p:sp>
        <p:nvSpPr>
          <p:cNvPr id="5" name="Shape 3"/>
          <p:cNvSpPr/>
          <p:nvPr/>
        </p:nvSpPr>
        <p:spPr>
          <a:xfrm>
            <a:off x="548640" y="1691640"/>
            <a:ext cx="11094415" cy="1417320"/>
          </a:xfrm>
          <a:prstGeom prst="roundRect">
            <a:avLst>
              <a:gd name="adj" fmla="val 5161"/>
            </a:avLst>
          </a:prstGeom>
          <a:solidFill>
            <a:srgbClr val="F2F5F9"/>
          </a:solidFill>
          <a:ln/>
        </p:spPr>
      </p:sp>
      <p:sp>
        <p:nvSpPr>
          <p:cNvPr id="6" name="Text 4"/>
          <p:cNvSpPr/>
          <p:nvPr/>
        </p:nvSpPr>
        <p:spPr>
          <a:xfrm>
            <a:off x="822960" y="1764792"/>
            <a:ext cx="10545775" cy="1271016"/>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From OpenSpec's docs: </a:t>
            </a:r>
            <a:pPr indent="0" marL="0">
              <a:buNone/>
            </a:pPr>
            <a:r>
              <a:rPr lang="en-US" sz="1400" dirty="0">
                <a:solidFill>
                  <a:srgbClr val="1B2A4A"/>
                </a:solidFill>
                <a:latin typeface="Calibri" pitchFamily="34" charset="0"/>
                <a:ea typeface="Calibri" pitchFamily="34" charset="-122"/>
                <a:cs typeface="Calibri" pitchFamily="34" charset="-120"/>
              </a:rPr>
              <a:t>"Change not found," "No artifacts ready," and "Artifacts not generating properly" are named directly in OpenSpec's own troubleshooting guide. Thin project context in config.yaml is a common root cause, so the fix is often as simple as filling in more project context.</a:t>
            </a:r>
            <a:endParaRPr lang="en-US" sz="1400" dirty="0"/>
          </a:p>
        </p:txBody>
      </p:sp>
      <p:sp>
        <p:nvSpPr>
          <p:cNvPr id="7" name="Shape 5"/>
          <p:cNvSpPr/>
          <p:nvPr/>
        </p:nvSpPr>
        <p:spPr>
          <a:xfrm>
            <a:off x="548640" y="3218688"/>
            <a:ext cx="11094415" cy="1417320"/>
          </a:xfrm>
          <a:prstGeom prst="roundRect">
            <a:avLst>
              <a:gd name="adj" fmla="val 5161"/>
            </a:avLst>
          </a:prstGeom>
          <a:solidFill>
            <a:srgbClr val="F2F5F9"/>
          </a:solidFill>
          <a:ln/>
        </p:spPr>
      </p:sp>
      <p:sp>
        <p:nvSpPr>
          <p:cNvPr id="8" name="Shape 6"/>
          <p:cNvSpPr/>
          <p:nvPr/>
        </p:nvSpPr>
        <p:spPr>
          <a:xfrm>
            <a:off x="777240" y="3726180"/>
            <a:ext cx="2834640" cy="402336"/>
          </a:xfrm>
          <a:prstGeom prst="roundRect">
            <a:avLst>
              <a:gd name="adj" fmla="val 13636"/>
            </a:avLst>
          </a:prstGeom>
          <a:solidFill>
            <a:srgbClr val="1B2A4A"/>
          </a:solidFill>
          <a:ln/>
        </p:spPr>
      </p:sp>
      <p:sp>
        <p:nvSpPr>
          <p:cNvPr id="9" name="Text 7"/>
          <p:cNvSpPr/>
          <p:nvPr/>
        </p:nvSpPr>
        <p:spPr>
          <a:xfrm>
            <a:off x="777240" y="3726180"/>
            <a:ext cx="2834640" cy="402336"/>
          </a:xfrm>
          <a:prstGeom prst="rect">
            <a:avLst/>
          </a:prstGeom>
          <a:noFill/>
          <a:ln/>
        </p:spPr>
        <p:txBody>
          <a:bodyPr wrap="square" rtlCol="0" anchor="ctr"/>
          <a:lstStyle/>
          <a:p>
            <a:pPr algn="ctr" indent="0" marL="0">
              <a:buNone/>
            </a:pPr>
            <a:r>
              <a:rPr lang="en-US" sz="1200" dirty="0">
                <a:solidFill>
                  <a:srgbClr val="8FE3C7"/>
                </a:solidFill>
                <a:latin typeface="Courier New" pitchFamily="34" charset="0"/>
                <a:ea typeface="Courier New" pitchFamily="34" charset="-122"/>
                <a:cs typeface="Courier New" pitchFamily="34" charset="-120"/>
              </a:rPr>
              <a:t>/opsx:ff</a:t>
            </a:r>
            <a:endParaRPr lang="en-US" sz="1200" dirty="0"/>
          </a:p>
        </p:txBody>
      </p:sp>
      <p:sp>
        <p:nvSpPr>
          <p:cNvPr id="10" name="Text 8"/>
          <p:cNvSpPr/>
          <p:nvPr/>
        </p:nvSpPr>
        <p:spPr>
          <a:xfrm>
            <a:off x="3840480" y="3291840"/>
            <a:ext cx="7573975" cy="1271016"/>
          </a:xfrm>
          <a:prstGeom prst="rect">
            <a:avLst/>
          </a:prstGeom>
          <a:noFill/>
          <a:ln/>
        </p:spPr>
        <p:txBody>
          <a:bodyPr wrap="square" rtlCol="0" anchor="ctr"/>
          <a:lstStyle/>
          <a:p>
            <a:pPr indent="0" marL="0">
              <a:buNone/>
            </a:pPr>
            <a:r>
              <a:rPr lang="en-US" sz="1350" dirty="0">
                <a:solidFill>
                  <a:srgbClr val="1B2A4A"/>
                </a:solidFill>
                <a:latin typeface="Calibri" pitchFamily="34" charset="0"/>
                <a:ea typeface="Calibri" pitchFamily="34" charset="-122"/>
                <a:cs typeface="Calibri" pitchFamily="34" charset="-120"/>
              </a:rPr>
              <a:t>Fast-forward generates every artifact at once. Convenient, but it skips the incremental review that /opsx:continue gives you, an under-specification risk if nobody reads each artifact before the next is generated on top of it.</a:t>
            </a:r>
            <a:endParaRPr lang="en-US" sz="1350" dirty="0"/>
          </a:p>
        </p:txBody>
      </p:sp>
      <p:sp>
        <p:nvSpPr>
          <p:cNvPr id="11" name="Text 9"/>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8</a:t>
            </a:r>
            <a:endParaRPr lang="en-US" sz="1000" dirty="0"/>
          </a:p>
        </p:txBody>
      </p:sp>
      <p:sp>
        <p:nvSpPr>
          <p:cNvPr id="12" name="Text 10"/>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594360"/>
          </a:xfrm>
          <a:prstGeom prst="rect">
            <a:avLst/>
          </a:prstGeom>
          <a:noFill/>
          <a:ln/>
        </p:spPr>
        <p:txBody>
          <a:bodyPr wrap="square" rtlCol="0" anchor="ctr"/>
          <a:lstStyle/>
          <a:p>
            <a:pPr indent="0" marL="0">
              <a:buNone/>
            </a:pPr>
            <a:r>
              <a:rPr lang="en-US" sz="2600" b="1" dirty="0">
                <a:solidFill>
                  <a:srgbClr val="1B2A4A"/>
                </a:solidFill>
                <a:latin typeface="Times New Roman" pitchFamily="34" charset="0"/>
                <a:ea typeface="Times New Roman" pitchFamily="34" charset="-122"/>
                <a:cs typeface="Times New Roman" pitchFamily="34" charset="-120"/>
              </a:rPr>
              <a:t>Module 8 at a Glance</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43200"/>
                <a:gridCol w="4175608"/>
                <a:gridCol w="4175608"/>
              </a:tblGrid>
              <a:tr h="914400">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GitHub Spec Kit</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2E74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OpenSpec</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C7293"/>
                    </a:solidFill>
                  </a:tcPr>
                </a:tc>
              </a:tr>
              <a:tr h="91440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Common pitfall</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2F5F9"/>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Stale checklists or ignored analyze findings</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Over-using /opsx:ff without review</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r>
              <a:tr h="91440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Root cause</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2F5F9"/>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A review step was skipped</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A review step was skipped</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r>
              <a:tr h="91440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Documented by</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2F5F9"/>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Workflow reference (checklist, analyze)</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OpenSpec's own troubleshooting guide</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r>
            </a:tbl>
          </a:graphicData>
        </a:graphic>
      </p:graphicFrame>
      <p:sp>
        <p:nvSpPr>
          <p:cNvPr id="4" name="Text 1"/>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8</a:t>
            </a:r>
            <a:endParaRPr lang="en-US" sz="1000" dirty="0"/>
          </a:p>
        </p:txBody>
      </p:sp>
      <p:sp>
        <p:nvSpPr>
          <p:cNvPr id="5" name="Text 2"/>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Key Takeaways</a:t>
            </a:r>
            <a:endParaRPr lang="en-US" sz="3000" dirty="0"/>
          </a:p>
        </p:txBody>
      </p:sp>
      <p:sp>
        <p:nvSpPr>
          <p:cNvPr id="3" name="Shape 1"/>
          <p:cNvSpPr/>
          <p:nvPr/>
        </p:nvSpPr>
        <p:spPr>
          <a:xfrm>
            <a:off x="548640" y="1627632"/>
            <a:ext cx="128016" cy="128016"/>
          </a:xfrm>
          <a:prstGeom prst="ellipse">
            <a:avLst/>
          </a:prstGeom>
          <a:solidFill>
            <a:srgbClr val="C0504D"/>
          </a:solidFill>
          <a:ln/>
        </p:spPr>
      </p:sp>
      <p:sp>
        <p:nvSpPr>
          <p:cNvPr id="4" name="Text 2"/>
          <p:cNvSpPr/>
          <p:nvPr/>
        </p:nvSpPr>
        <p:spPr>
          <a:xfrm>
            <a:off x="914400" y="1417320"/>
            <a:ext cx="10728655" cy="1280160"/>
          </a:xfrm>
          <a:prstGeom prst="rect">
            <a:avLst/>
          </a:prstGeom>
          <a:noFill/>
          <a:ln/>
        </p:spPr>
        <p:txBody>
          <a:bodyPr wrap="square" rtlCol="0" anchor="t"/>
          <a:lstStyle/>
          <a:p>
            <a:pPr indent="0" marL="0">
              <a:buNone/>
            </a:pPr>
            <a:r>
              <a:rPr lang="en-US" sz="1700" dirty="0">
                <a:solidFill>
                  <a:srgbClr val="E4ECFA"/>
                </a:solidFill>
                <a:latin typeface="Calibri" pitchFamily="34" charset="0"/>
                <a:ea typeface="Calibri" pitchFamily="34" charset="-122"/>
                <a:cs typeface="Calibri" pitchFamily="34" charset="-120"/>
              </a:rPr>
              <a:t>Anti-patterns are rarely new mistakes; they're earlier shortcuts catching up with you later in the lifecycle.</a:t>
            </a:r>
            <a:endParaRPr lang="en-US" sz="1700" dirty="0"/>
          </a:p>
        </p:txBody>
      </p:sp>
      <p:sp>
        <p:nvSpPr>
          <p:cNvPr id="5" name="Shape 3"/>
          <p:cNvSpPr/>
          <p:nvPr/>
        </p:nvSpPr>
        <p:spPr>
          <a:xfrm>
            <a:off x="548640" y="2999232"/>
            <a:ext cx="128016" cy="128016"/>
          </a:xfrm>
          <a:prstGeom prst="ellipse">
            <a:avLst/>
          </a:prstGeom>
          <a:solidFill>
            <a:srgbClr val="C0504D"/>
          </a:solidFill>
          <a:ln/>
        </p:spPr>
      </p:sp>
      <p:sp>
        <p:nvSpPr>
          <p:cNvPr id="6" name="Text 4"/>
          <p:cNvSpPr/>
          <p:nvPr/>
        </p:nvSpPr>
        <p:spPr>
          <a:xfrm>
            <a:off x="914400" y="2788920"/>
            <a:ext cx="10728655" cy="1280160"/>
          </a:xfrm>
          <a:prstGeom prst="rect">
            <a:avLst/>
          </a:prstGeom>
          <a:noFill/>
          <a:ln/>
        </p:spPr>
        <p:txBody>
          <a:bodyPr wrap="square" rtlCol="0" anchor="t"/>
          <a:lstStyle/>
          <a:p>
            <a:pPr indent="0" marL="0">
              <a:buNone/>
            </a:pPr>
            <a:r>
              <a:rPr lang="en-US" sz="1700" dirty="0">
                <a:solidFill>
                  <a:srgbClr val="E4ECFA"/>
                </a:solidFill>
                <a:latin typeface="Calibri" pitchFamily="34" charset="0"/>
                <a:ea typeface="Calibri" pitchFamily="34" charset="-122"/>
                <a:cs typeface="Calibri" pitchFamily="34" charset="-120"/>
              </a:rPr>
              <a:t>Every framework gate you skip is a bet that nothing needed catching, and that bet doesn't always pay off.</a:t>
            </a:r>
            <a:endParaRPr lang="en-US" sz="1700" dirty="0"/>
          </a:p>
        </p:txBody>
      </p:sp>
      <p:sp>
        <p:nvSpPr>
          <p:cNvPr id="7" name="Shape 5"/>
          <p:cNvSpPr/>
          <p:nvPr/>
        </p:nvSpPr>
        <p:spPr>
          <a:xfrm>
            <a:off x="548640" y="4370832"/>
            <a:ext cx="128016" cy="128016"/>
          </a:xfrm>
          <a:prstGeom prst="ellipse">
            <a:avLst/>
          </a:prstGeom>
          <a:solidFill>
            <a:srgbClr val="C0504D"/>
          </a:solidFill>
          <a:ln/>
        </p:spPr>
      </p:sp>
      <p:sp>
        <p:nvSpPr>
          <p:cNvPr id="8" name="Text 6"/>
          <p:cNvSpPr/>
          <p:nvPr/>
        </p:nvSpPr>
        <p:spPr>
          <a:xfrm>
            <a:off x="914400" y="4160520"/>
            <a:ext cx="10728655" cy="1280160"/>
          </a:xfrm>
          <a:prstGeom prst="rect">
            <a:avLst/>
          </a:prstGeom>
          <a:noFill/>
          <a:ln/>
        </p:spPr>
        <p:txBody>
          <a:bodyPr wrap="square" rtlCol="0" anchor="t"/>
          <a:lstStyle/>
          <a:p>
            <a:pPr indent="0" marL="0">
              <a:buNone/>
            </a:pPr>
            <a:r>
              <a:rPr lang="en-US" sz="1700" dirty="0">
                <a:solidFill>
                  <a:srgbClr val="E4ECFA"/>
                </a:solidFill>
                <a:latin typeface="Calibri" pitchFamily="34" charset="0"/>
                <a:ea typeface="Calibri" pitchFamily="34" charset="-122"/>
                <a:cs typeface="Calibri" pitchFamily="34" charset="-120"/>
              </a:rPr>
              <a:t>Case studies at scale tend to share one pattern: the team that skipped a gate is the team that got surprised later, often at a worse time than if they'd caught it early.</a:t>
            </a:r>
            <a:endParaRPr lang="en-US" sz="1700" dirty="0"/>
          </a:p>
        </p:txBody>
      </p:sp>
      <p:sp>
        <p:nvSpPr>
          <p:cNvPr id="9" name="Text 7"/>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8</a:t>
            </a:r>
            <a:endParaRPr lang="en-US" sz="1000" dirty="0"/>
          </a:p>
        </p:txBody>
      </p:sp>
      <p:sp>
        <p:nvSpPr>
          <p:cNvPr id="10" name="Text 8"/>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2026-08-15T17:56:13Z</dcterms:created>
  <dcterms:modified xsi:type="dcterms:W3CDTF">2026-08-15T17:56:13Z</dcterms:modified>
</cp:coreProperties>
</file>